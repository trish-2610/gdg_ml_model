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Bricolage Grotesque" panose="020B0604020202020204" charset="0"/>
      <p:regular r:id="rId22"/>
    </p:embeddedFont>
    <p:embeddedFont>
      <p:font typeface="Canva Sans" panose="020B0604020202020204" charset="0"/>
      <p:regular r:id="rId23"/>
    </p:embeddedFont>
    <p:embeddedFont>
      <p:font typeface="Canva Sa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232" y="3726046"/>
            <a:ext cx="17073367" cy="2415147"/>
            <a:chOff x="0" y="0"/>
            <a:chExt cx="22567378" cy="3220196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0"/>
              <a:ext cx="22567378" cy="2191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823"/>
                </a:lnSpc>
              </a:pPr>
              <a:r>
                <a:rPr lang="en-US" sz="9873" b="1" dirty="0">
                  <a:solidFill>
                    <a:srgbClr val="0097B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Machine Learning Unfolded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06724" y="1886712"/>
              <a:ext cx="15564010" cy="13334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Step into the Future with AI/ML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1537" y="-2037000"/>
            <a:ext cx="15071533" cy="13382342"/>
            <a:chOff x="0" y="0"/>
            <a:chExt cx="20095378" cy="17843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89045" cy="17843123"/>
            </a:xfrm>
            <a:custGeom>
              <a:avLst/>
              <a:gdLst/>
              <a:ahLst/>
              <a:cxnLst/>
              <a:rect l="l" t="t" r="r" b="b"/>
              <a:pathLst>
                <a:path w="19789045" h="17843123">
                  <a:moveTo>
                    <a:pt x="0" y="0"/>
                  </a:moveTo>
                  <a:lnTo>
                    <a:pt x="19789045" y="0"/>
                  </a:lnTo>
                  <a:lnTo>
                    <a:pt x="19789045" y="17843123"/>
                  </a:lnTo>
                  <a:lnTo>
                    <a:pt x="0" y="17843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9894523" y="6332461"/>
              <a:ext cx="10200855" cy="7258289"/>
              <a:chOff x="0" y="0"/>
              <a:chExt cx="1142315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14231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142315" h="812800">
                    <a:moveTo>
                      <a:pt x="571158" y="0"/>
                    </a:moveTo>
                    <a:cubicBezTo>
                      <a:pt x="255716" y="0"/>
                      <a:pt x="0" y="181951"/>
                      <a:pt x="0" y="406400"/>
                    </a:cubicBezTo>
                    <a:cubicBezTo>
                      <a:pt x="0" y="630849"/>
                      <a:pt x="255716" y="812800"/>
                      <a:pt x="571158" y="812800"/>
                    </a:cubicBezTo>
                    <a:cubicBezTo>
                      <a:pt x="886599" y="812800"/>
                      <a:pt x="1142315" y="630849"/>
                      <a:pt x="1142315" y="406400"/>
                    </a:cubicBezTo>
                    <a:cubicBezTo>
                      <a:pt x="1142315" y="181951"/>
                      <a:pt x="886599" y="0"/>
                      <a:pt x="571158" y="0"/>
                    </a:cubicBezTo>
                    <a:close/>
                  </a:path>
                </a:pathLst>
              </a:custGeom>
              <a:solidFill>
                <a:srgbClr val="B4B4B4">
                  <a:alpha val="52941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7092" y="38100"/>
                <a:ext cx="928131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7" name="TextBox 7"/>
          <p:cNvSpPr txBox="1"/>
          <p:nvPr/>
        </p:nvSpPr>
        <p:spPr>
          <a:xfrm>
            <a:off x="10057770" y="5067300"/>
            <a:ext cx="3382804" cy="71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0"/>
              </a:lnSpc>
              <a:spcBef>
                <a:spcPct val="0"/>
              </a:spcBef>
            </a:pPr>
            <a:r>
              <a:rPr lang="en-US" sz="4207">
                <a:solidFill>
                  <a:srgbClr val="65656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 Science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8175" y="403631"/>
            <a:ext cx="15249618" cy="1368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vs ML vs DL vs Data Science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0207" y="2127412"/>
            <a:ext cx="15387586" cy="678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Intelligence (AI) :</a:t>
            </a:r>
            <a:r>
              <a:rPr lang="en-US" sz="35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broader concept the "universe". AI enables an application to perform a task without human intervention</a:t>
            </a: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 (ML) :</a:t>
            </a:r>
            <a:r>
              <a:rPr lang="en-US" sz="35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subset of AI. It provides statistical tools to analyze, visualize, predict, and forecast the data.</a:t>
            </a:r>
            <a:r>
              <a:rPr lang="en-US" sz="35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Learning (DL) :</a:t>
            </a:r>
            <a:r>
              <a:rPr lang="en-US" sz="35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subset of ML that uses multilayered neural networks that works on neural network that tries to mimic like human brain.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Science (DS) :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field that combines AI ML and DL to create AI-powered applications.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main goal is to create an AI-powered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26119" y="488459"/>
            <a:ext cx="10835761" cy="12056457"/>
          </a:xfrm>
          <a:custGeom>
            <a:avLst/>
            <a:gdLst/>
            <a:ahLst/>
            <a:cxnLst/>
            <a:rect l="l" t="t" r="r" b="b"/>
            <a:pathLst>
              <a:path w="10835761" h="12056457">
                <a:moveTo>
                  <a:pt x="0" y="0"/>
                </a:moveTo>
                <a:lnTo>
                  <a:pt x="10835762" y="0"/>
                </a:lnTo>
                <a:lnTo>
                  <a:pt x="10835762" y="12056457"/>
                </a:lnTo>
                <a:lnTo>
                  <a:pt x="0" y="12056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7564" y="103186"/>
            <a:ext cx="13584436" cy="1368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Types of Machine Learning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66533" y="1697558"/>
            <a:ext cx="16242967" cy="988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Supervised Learning :</a:t>
            </a:r>
            <a:r>
              <a:rPr lang="en-US" sz="35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 dataset with both independent (input) and dependent (output) features.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Regression :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Predicts a continuous output (e.g., house price).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: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Predicts a categorical output (pass/fail, yes/no).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97B2"/>
                </a:solidFill>
                <a:latin typeface="Canva Sans"/>
                <a:ea typeface="Canva Sans"/>
                <a:cs typeface="Canva Sans"/>
                <a:sym typeface="Canva Sans"/>
              </a:rPr>
              <a:t>        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Binary :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Only two output categories (Yes/No)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</a:t>
            </a: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Multiclass :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More than two output categories(Pass/Fail/May Pass)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Unsupervised Learning :</a:t>
            </a:r>
            <a:r>
              <a:rPr lang="en-US" sz="35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 dataset with only independent (input) features. There is no output/dependent feature.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goal is to find patterns or create clusters in the data.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Example: Customer segmentation based on salary and spending score.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Reinforcement Learning : 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technique that trains software to make decisions to achieve the most optimal results by using Trial-error method.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: Robots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86958" y="26829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Supervised ML Techniques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53199" y="1851025"/>
            <a:ext cx="15387586" cy="802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Regression :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</a:t>
            </a: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Linear Regression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- Ridge and Lasso Regression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- Elastic Net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: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</a:t>
            </a: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Logistic Regression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Both Classification and Regression :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97B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- AdaBoost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- XGBoost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- Decision Tree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- Random Forest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834568" y="26650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Unsupervised ML Techniques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4144" y="1930194"/>
            <a:ext cx="15387586" cy="369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K-Means Clustering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Hierarchical Clustering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DB-Scan Clustering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4360186" y="438309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Understanding ML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4144" y="6046783"/>
            <a:ext cx="16573856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using ML we make the computers learn from the data to make some predictions by which we can take any decisions easily.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: Predicting whether a mail is SPAM or not.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Predicting student marks based on input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1995" y="-338755"/>
            <a:ext cx="17124011" cy="11301847"/>
          </a:xfrm>
          <a:custGeom>
            <a:avLst/>
            <a:gdLst/>
            <a:ahLst/>
            <a:cxnLst/>
            <a:rect l="l" t="t" r="r" b="b"/>
            <a:pathLst>
              <a:path w="17124011" h="11301847">
                <a:moveTo>
                  <a:pt x="0" y="0"/>
                </a:moveTo>
                <a:lnTo>
                  <a:pt x="17124010" y="0"/>
                </a:lnTo>
                <a:lnTo>
                  <a:pt x="17124010" y="11301847"/>
                </a:lnTo>
                <a:lnTo>
                  <a:pt x="0" y="11301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5313" y="2212658"/>
            <a:ext cx="17237375" cy="3773849"/>
          </a:xfrm>
          <a:custGeom>
            <a:avLst/>
            <a:gdLst/>
            <a:ahLst/>
            <a:cxnLst/>
            <a:rect l="l" t="t" r="r" b="b"/>
            <a:pathLst>
              <a:path w="17237375" h="3773849">
                <a:moveTo>
                  <a:pt x="0" y="0"/>
                </a:moveTo>
                <a:lnTo>
                  <a:pt x="17237374" y="0"/>
                </a:lnTo>
                <a:lnTo>
                  <a:pt x="17237374" y="3773849"/>
                </a:lnTo>
                <a:lnTo>
                  <a:pt x="0" y="3773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0" r="-62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586958" y="26829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our Data Looks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86958" y="26829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CORRELATION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00906" y="2025650"/>
            <a:ext cx="15886188" cy="616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Correlation is a statistical measure used to determine the relationship between two numerical variables / features .</a:t>
            </a: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shows how the input feature is related with output feature.</a:t>
            </a:r>
          </a:p>
          <a:p>
            <a:pPr algn="l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+1 means Positive Correlation </a:t>
            </a: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 means NO Correlation </a:t>
            </a: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-1 means Negative Correlation</a:t>
            </a:r>
          </a:p>
          <a:p>
            <a:pPr algn="l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goal is to understand how much dependent is our Output Feature with respect to Input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1981" y="1965968"/>
            <a:ext cx="16904038" cy="8704069"/>
            <a:chOff x="0" y="0"/>
            <a:chExt cx="22538718" cy="11605425"/>
          </a:xfrm>
        </p:grpSpPr>
        <p:sp>
          <p:nvSpPr>
            <p:cNvPr id="3" name="TextBox 3"/>
            <p:cNvSpPr txBox="1"/>
            <p:nvPr/>
          </p:nvSpPr>
          <p:spPr>
            <a:xfrm>
              <a:off x="60781" y="974255"/>
              <a:ext cx="6246473" cy="10631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05"/>
                </a:lnSpc>
              </a:pPr>
              <a:r>
                <a:rPr lang="en-US" sz="35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roll no</a:t>
              </a:r>
            </a:p>
            <a:p>
              <a:pPr algn="ctr">
                <a:lnSpc>
                  <a:spcPts val="6405"/>
                </a:lnSpc>
              </a:pPr>
              <a:r>
                <a:rPr lang="en-US" sz="35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student id</a:t>
              </a:r>
            </a:p>
            <a:p>
              <a:pPr algn="ctr">
                <a:lnSpc>
                  <a:spcPts val="6405"/>
                </a:lnSpc>
              </a:pPr>
              <a:r>
                <a:rPr lang="en-US" sz="35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name </a:t>
              </a:r>
            </a:p>
            <a:p>
              <a:pPr algn="ctr">
                <a:lnSpc>
                  <a:spcPts val="6405"/>
                </a:lnSpc>
              </a:pPr>
              <a:r>
                <a:rPr lang="en-US" sz="35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study hours </a:t>
              </a:r>
            </a:p>
            <a:p>
              <a:pPr algn="ctr">
                <a:lnSpc>
                  <a:spcPts val="6405"/>
                </a:lnSpc>
              </a:pPr>
              <a:r>
                <a:rPr lang="en-US" sz="35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attendance </a:t>
              </a:r>
            </a:p>
            <a:p>
              <a:pPr algn="ctr">
                <a:lnSpc>
                  <a:spcPts val="6405"/>
                </a:lnSpc>
              </a:pPr>
              <a:r>
                <a:rPr lang="en-US" sz="35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internet access </a:t>
              </a:r>
            </a:p>
            <a:p>
              <a:pPr algn="ctr">
                <a:lnSpc>
                  <a:spcPts val="6405"/>
                </a:lnSpc>
              </a:pPr>
              <a:r>
                <a:rPr lang="en-US" sz="35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play hours</a:t>
              </a:r>
            </a:p>
            <a:p>
              <a:pPr algn="ctr">
                <a:lnSpc>
                  <a:spcPts val="6405"/>
                </a:lnSpc>
              </a:pPr>
              <a:r>
                <a:rPr lang="en-US" sz="35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sleep hours </a:t>
              </a:r>
            </a:p>
            <a:p>
              <a:pPr algn="ctr">
                <a:lnSpc>
                  <a:spcPts val="6405"/>
                </a:lnSpc>
              </a:pPr>
              <a:endPara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ctr">
                <a:lnSpc>
                  <a:spcPts val="6405"/>
                </a:lnSpc>
              </a:pPr>
              <a:endPara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676887" y="4009765"/>
              <a:ext cx="6187271" cy="2092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56"/>
                </a:lnSpc>
                <a:spcBef>
                  <a:spcPct val="0"/>
                </a:spcBef>
              </a:pPr>
              <a:r>
                <a:rPr lang="en-US" sz="8008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marks 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4948575" y="1710267"/>
              <a:ext cx="9728312" cy="314609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" name="AutoShape 6"/>
            <p:cNvSpPr/>
            <p:nvPr/>
          </p:nvSpPr>
          <p:spPr>
            <a:xfrm>
              <a:off x="4954270" y="2653060"/>
              <a:ext cx="9722617" cy="264084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5320125" y="4923557"/>
              <a:ext cx="9356762" cy="117823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8" name="AutoShape 8"/>
            <p:cNvSpPr/>
            <p:nvPr/>
          </p:nvSpPr>
          <p:spPr>
            <a:xfrm>
              <a:off x="4670309" y="3569714"/>
              <a:ext cx="10006579" cy="222301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9" name="AutoShape 9"/>
            <p:cNvSpPr/>
            <p:nvPr/>
          </p:nvSpPr>
          <p:spPr>
            <a:xfrm flipV="1">
              <a:off x="4954270" y="5253704"/>
              <a:ext cx="9722617" cy="69790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4959965" y="5951610"/>
              <a:ext cx="9716922" cy="227163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5668896" y="5568969"/>
              <a:ext cx="9007991" cy="141062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5320966" y="6394615"/>
              <a:ext cx="9355921" cy="276286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5217902" y="4411971"/>
              <a:ext cx="5105242" cy="2313997"/>
              <a:chOff x="0" y="0"/>
              <a:chExt cx="1008443" cy="45708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08443" cy="457086"/>
              </a:xfrm>
              <a:custGeom>
                <a:avLst/>
                <a:gdLst/>
                <a:ahLst/>
                <a:cxnLst/>
                <a:rect l="l" t="t" r="r" b="b"/>
                <a:pathLst>
                  <a:path w="1008443" h="457086">
                    <a:moveTo>
                      <a:pt x="0" y="0"/>
                    </a:moveTo>
                    <a:lnTo>
                      <a:pt x="1008443" y="0"/>
                    </a:lnTo>
                    <a:lnTo>
                      <a:pt x="1008443" y="457086"/>
                    </a:lnTo>
                    <a:lnTo>
                      <a:pt x="0" y="45708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1008443" cy="4856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57134" y="-66675"/>
              <a:ext cx="21181583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FF6D4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Input Features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482380" y="-208703"/>
              <a:ext cx="4576286" cy="915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05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FF6D4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Output Feature 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214580" y="1211407"/>
              <a:ext cx="809720" cy="796222"/>
            </a:xfrm>
            <a:custGeom>
              <a:avLst/>
              <a:gdLst/>
              <a:ahLst/>
              <a:cxnLst/>
              <a:rect l="l" t="t" r="r" b="b"/>
              <a:pathLst>
                <a:path w="809720" h="796222">
                  <a:moveTo>
                    <a:pt x="0" y="0"/>
                  </a:moveTo>
                  <a:lnTo>
                    <a:pt x="809720" y="0"/>
                  </a:lnTo>
                  <a:lnTo>
                    <a:pt x="809720" y="796222"/>
                  </a:lnTo>
                  <a:lnTo>
                    <a:pt x="0" y="79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4132" t="-135701" r="-66719" b="-13193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409346" y="3210251"/>
              <a:ext cx="809720" cy="796222"/>
            </a:xfrm>
            <a:custGeom>
              <a:avLst/>
              <a:gdLst/>
              <a:ahLst/>
              <a:cxnLst/>
              <a:rect l="l" t="t" r="r" b="b"/>
              <a:pathLst>
                <a:path w="809720" h="796222">
                  <a:moveTo>
                    <a:pt x="0" y="0"/>
                  </a:moveTo>
                  <a:lnTo>
                    <a:pt x="809721" y="0"/>
                  </a:lnTo>
                  <a:lnTo>
                    <a:pt x="809721" y="796223"/>
                  </a:lnTo>
                  <a:lnTo>
                    <a:pt x="0" y="796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4132" t="-135701" r="-66719" b="-131931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809720" y="2210829"/>
              <a:ext cx="809720" cy="796222"/>
            </a:xfrm>
            <a:custGeom>
              <a:avLst/>
              <a:gdLst/>
              <a:ahLst/>
              <a:cxnLst/>
              <a:rect l="l" t="t" r="r" b="b"/>
              <a:pathLst>
                <a:path w="809720" h="796222">
                  <a:moveTo>
                    <a:pt x="0" y="0"/>
                  </a:moveTo>
                  <a:lnTo>
                    <a:pt x="809720" y="0"/>
                  </a:lnTo>
                  <a:lnTo>
                    <a:pt x="809720" y="796222"/>
                  </a:lnTo>
                  <a:lnTo>
                    <a:pt x="0" y="79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4132" t="-135701" r="-66719" b="-131931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-10800000">
              <a:off x="404860" y="4326749"/>
              <a:ext cx="809720" cy="796222"/>
            </a:xfrm>
            <a:custGeom>
              <a:avLst/>
              <a:gdLst/>
              <a:ahLst/>
              <a:cxnLst/>
              <a:rect l="l" t="t" r="r" b="b"/>
              <a:pathLst>
                <a:path w="809720" h="796222">
                  <a:moveTo>
                    <a:pt x="0" y="0"/>
                  </a:moveTo>
                  <a:lnTo>
                    <a:pt x="809720" y="0"/>
                  </a:lnTo>
                  <a:lnTo>
                    <a:pt x="809720" y="796223"/>
                  </a:lnTo>
                  <a:lnTo>
                    <a:pt x="0" y="796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4132" t="-135701" r="-66719" b="-131931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 rot="-10800000">
              <a:off x="599626" y="5404601"/>
              <a:ext cx="809720" cy="796222"/>
            </a:xfrm>
            <a:custGeom>
              <a:avLst/>
              <a:gdLst/>
              <a:ahLst/>
              <a:cxnLst/>
              <a:rect l="l" t="t" r="r" b="b"/>
              <a:pathLst>
                <a:path w="809720" h="796222">
                  <a:moveTo>
                    <a:pt x="0" y="0"/>
                  </a:moveTo>
                  <a:lnTo>
                    <a:pt x="809720" y="0"/>
                  </a:lnTo>
                  <a:lnTo>
                    <a:pt x="809720" y="796223"/>
                  </a:lnTo>
                  <a:lnTo>
                    <a:pt x="0" y="796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4132" t="-135701" r="-66719" b="-131931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 rot="-10800000">
              <a:off x="0" y="6544619"/>
              <a:ext cx="809720" cy="796222"/>
            </a:xfrm>
            <a:custGeom>
              <a:avLst/>
              <a:gdLst/>
              <a:ahLst/>
              <a:cxnLst/>
              <a:rect l="l" t="t" r="r" b="b"/>
              <a:pathLst>
                <a:path w="809720" h="796222">
                  <a:moveTo>
                    <a:pt x="0" y="0"/>
                  </a:moveTo>
                  <a:lnTo>
                    <a:pt x="809720" y="0"/>
                  </a:lnTo>
                  <a:lnTo>
                    <a:pt x="809720" y="796222"/>
                  </a:lnTo>
                  <a:lnTo>
                    <a:pt x="0" y="79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4132" t="-135701" r="-66719" b="-131931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10800000">
              <a:off x="599626" y="7607541"/>
              <a:ext cx="809720" cy="796222"/>
            </a:xfrm>
            <a:custGeom>
              <a:avLst/>
              <a:gdLst/>
              <a:ahLst/>
              <a:cxnLst/>
              <a:rect l="l" t="t" r="r" b="b"/>
              <a:pathLst>
                <a:path w="809720" h="796222">
                  <a:moveTo>
                    <a:pt x="0" y="0"/>
                  </a:moveTo>
                  <a:lnTo>
                    <a:pt x="809720" y="0"/>
                  </a:lnTo>
                  <a:lnTo>
                    <a:pt x="809720" y="796222"/>
                  </a:lnTo>
                  <a:lnTo>
                    <a:pt x="0" y="79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4132" t="-135701" r="-66719" b="-131931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-10800000">
              <a:off x="599626" y="8666272"/>
              <a:ext cx="809720" cy="796222"/>
            </a:xfrm>
            <a:custGeom>
              <a:avLst/>
              <a:gdLst/>
              <a:ahLst/>
              <a:cxnLst/>
              <a:rect l="l" t="t" r="r" b="b"/>
              <a:pathLst>
                <a:path w="809720" h="796222">
                  <a:moveTo>
                    <a:pt x="0" y="0"/>
                  </a:moveTo>
                  <a:lnTo>
                    <a:pt x="809720" y="0"/>
                  </a:lnTo>
                  <a:lnTo>
                    <a:pt x="809720" y="796222"/>
                  </a:lnTo>
                  <a:lnTo>
                    <a:pt x="0" y="79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4132" t="-135701" r="-66719" b="-131931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-1969628" y="26829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correlated is our I/P with O/P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1375" y="4076589"/>
            <a:ext cx="17417455" cy="4299571"/>
            <a:chOff x="0" y="0"/>
            <a:chExt cx="23223274" cy="5732761"/>
          </a:xfrm>
        </p:grpSpPr>
        <p:sp>
          <p:nvSpPr>
            <p:cNvPr id="3" name="Freeform 3"/>
            <p:cNvSpPr/>
            <p:nvPr/>
          </p:nvSpPr>
          <p:spPr>
            <a:xfrm>
              <a:off x="240107" y="700962"/>
              <a:ext cx="22983167" cy="5031799"/>
            </a:xfrm>
            <a:custGeom>
              <a:avLst/>
              <a:gdLst/>
              <a:ahLst/>
              <a:cxnLst/>
              <a:rect l="l" t="t" r="r" b="b"/>
              <a:pathLst>
                <a:path w="22983167" h="5031799">
                  <a:moveTo>
                    <a:pt x="0" y="0"/>
                  </a:moveTo>
                  <a:lnTo>
                    <a:pt x="22983167" y="0"/>
                  </a:lnTo>
                  <a:lnTo>
                    <a:pt x="22983167" y="5031799"/>
                  </a:lnTo>
                  <a:lnTo>
                    <a:pt x="0" y="5031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0" r="-620"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700962"/>
              <a:ext cx="5405376" cy="1056967"/>
              <a:chOff x="0" y="0"/>
              <a:chExt cx="1067729" cy="20878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67729" cy="208784"/>
              </a:xfrm>
              <a:custGeom>
                <a:avLst/>
                <a:gdLst/>
                <a:ahLst/>
                <a:cxnLst/>
                <a:rect l="l" t="t" r="r" b="b"/>
                <a:pathLst>
                  <a:path w="1067729" h="208784">
                    <a:moveTo>
                      <a:pt x="0" y="0"/>
                    </a:moveTo>
                    <a:lnTo>
                      <a:pt x="1067729" y="0"/>
                    </a:lnTo>
                    <a:lnTo>
                      <a:pt x="1067729" y="208784"/>
                    </a:lnTo>
                    <a:lnTo>
                      <a:pt x="0" y="2087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1067729" cy="2373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37958" y="-38100"/>
              <a:ext cx="3929459" cy="4920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6"/>
                </a:lnSpc>
                <a:spcBef>
                  <a:spcPct val="0"/>
                </a:spcBef>
              </a:pPr>
              <a:r>
                <a:rPr lang="en-US" sz="2247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Unecessary columns 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21828803" y="748954"/>
              <a:ext cx="1394471" cy="4983807"/>
              <a:chOff x="0" y="0"/>
              <a:chExt cx="275451" cy="9844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75451" cy="984456"/>
              </a:xfrm>
              <a:custGeom>
                <a:avLst/>
                <a:gdLst/>
                <a:ahLst/>
                <a:cxnLst/>
                <a:rect l="l" t="t" r="r" b="b"/>
                <a:pathLst>
                  <a:path w="275451" h="984456">
                    <a:moveTo>
                      <a:pt x="0" y="0"/>
                    </a:moveTo>
                    <a:lnTo>
                      <a:pt x="275451" y="0"/>
                    </a:lnTo>
                    <a:lnTo>
                      <a:pt x="275451" y="984456"/>
                    </a:lnTo>
                    <a:lnTo>
                      <a:pt x="0" y="98445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B052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275451" cy="10130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697811" y="8871742"/>
            <a:ext cx="11459835" cy="1262787"/>
            <a:chOff x="0" y="0"/>
            <a:chExt cx="3018228" cy="3325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18228" cy="332586"/>
            </a:xfrm>
            <a:custGeom>
              <a:avLst/>
              <a:gdLst/>
              <a:ahLst/>
              <a:cxnLst/>
              <a:rect l="l" t="t" r="r" b="b"/>
              <a:pathLst>
                <a:path w="3018228" h="332586">
                  <a:moveTo>
                    <a:pt x="0" y="0"/>
                  </a:moveTo>
                  <a:lnTo>
                    <a:pt x="3018228" y="0"/>
                  </a:lnTo>
                  <a:lnTo>
                    <a:pt x="3018228" y="332586"/>
                  </a:lnTo>
                  <a:lnTo>
                    <a:pt x="0" y="3325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018228" cy="361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-1586958" y="26829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Selection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0906" y="1839679"/>
            <a:ext cx="16058394" cy="18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Selection is a process in which we keep only important features (highly correlated) and remove unnecessary features.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helps in training our model efficiently and removes noise from our data.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1130" y="9012968"/>
            <a:ext cx="12177547" cy="92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sz="2654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rollno , student_id and name have very less/No correlation with our output feature marks so we are dropping these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2099" y="4377824"/>
            <a:ext cx="16643802" cy="4909922"/>
          </a:xfrm>
          <a:custGeom>
            <a:avLst/>
            <a:gdLst/>
            <a:ahLst/>
            <a:cxnLst/>
            <a:rect l="l" t="t" r="r" b="b"/>
            <a:pathLst>
              <a:path w="16643802" h="4909922">
                <a:moveTo>
                  <a:pt x="0" y="0"/>
                </a:moveTo>
                <a:lnTo>
                  <a:pt x="16643802" y="0"/>
                </a:lnTo>
                <a:lnTo>
                  <a:pt x="16643802" y="4909922"/>
                </a:lnTo>
                <a:lnTo>
                  <a:pt x="0" y="4909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099" y="4377824"/>
            <a:ext cx="15354071" cy="924278"/>
            <a:chOff x="0" y="0"/>
            <a:chExt cx="4043871" cy="2434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43871" cy="243431"/>
            </a:xfrm>
            <a:custGeom>
              <a:avLst/>
              <a:gdLst/>
              <a:ahLst/>
              <a:cxnLst/>
              <a:rect l="l" t="t" r="r" b="b"/>
              <a:pathLst>
                <a:path w="4043871" h="243431">
                  <a:moveTo>
                    <a:pt x="0" y="0"/>
                  </a:moveTo>
                  <a:lnTo>
                    <a:pt x="4043871" y="0"/>
                  </a:lnTo>
                  <a:lnTo>
                    <a:pt x="4043871" y="243431"/>
                  </a:lnTo>
                  <a:lnTo>
                    <a:pt x="0" y="2434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B052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043871" cy="27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1748539" y="52513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Data For Training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59681" y="2007848"/>
            <a:ext cx="1605839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Dividing data into input and output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9630" y="2823332"/>
            <a:ext cx="3270052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Features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49305" y="2840968"/>
            <a:ext cx="3537109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  <a:spcBef>
                <a:spcPct val="0"/>
              </a:spcBef>
            </a:pPr>
            <a:r>
              <a:rPr lang="en-US" sz="3500" b="1">
                <a:solidFill>
                  <a:srgbClr val="FF6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 Feature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348856" y="4377824"/>
            <a:ext cx="1117045" cy="924278"/>
            <a:chOff x="0" y="0"/>
            <a:chExt cx="294201" cy="2434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4201" cy="243431"/>
            </a:xfrm>
            <a:custGeom>
              <a:avLst/>
              <a:gdLst/>
              <a:ahLst/>
              <a:cxnLst/>
              <a:rect l="l" t="t" r="r" b="b"/>
              <a:pathLst>
                <a:path w="294201" h="243431">
                  <a:moveTo>
                    <a:pt x="0" y="0"/>
                  </a:moveTo>
                  <a:lnTo>
                    <a:pt x="294201" y="0"/>
                  </a:lnTo>
                  <a:lnTo>
                    <a:pt x="294201" y="243431"/>
                  </a:lnTo>
                  <a:lnTo>
                    <a:pt x="0" y="2434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94201" cy="272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665993" y="3543422"/>
            <a:ext cx="1472501" cy="6318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AutoShape 14"/>
          <p:cNvSpPr/>
          <p:nvPr/>
        </p:nvSpPr>
        <p:spPr>
          <a:xfrm>
            <a:off x="14875955" y="3580108"/>
            <a:ext cx="1743475" cy="5951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5" name="TextBox 15"/>
          <p:cNvSpPr txBox="1"/>
          <p:nvPr/>
        </p:nvSpPr>
        <p:spPr>
          <a:xfrm>
            <a:off x="3973956" y="2840968"/>
            <a:ext cx="603647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(X)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79615" y="2840968"/>
            <a:ext cx="572572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969628" y="718018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Data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2363554" y="3443557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Data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94054" y="2019760"/>
            <a:ext cx="16058394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Data is useful for training our model.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93640" y="4745299"/>
            <a:ext cx="16058394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Data is used to test the performance of our model , to check how good our model is trained on the training data , that helps in finding the accuracy of our model.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4803" y="7866063"/>
            <a:ext cx="1605839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No. of rows in our dataset : </a:t>
            </a:r>
            <a:r>
              <a:rPr lang="en-US" sz="350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1000</a:t>
            </a: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4803" y="8396288"/>
            <a:ext cx="1605839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dataset : </a:t>
            </a:r>
            <a:r>
              <a:rPr lang="en-US" sz="350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800 </a:t>
            </a:r>
            <a:r>
              <a:rPr lang="en-US" sz="3500" b="1">
                <a:solidFill>
                  <a:srgbClr val="00B0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(80%)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4803" y="8926513"/>
            <a:ext cx="1605839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dataset : </a:t>
            </a:r>
            <a:r>
              <a:rPr lang="en-US" sz="350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200 </a:t>
            </a:r>
            <a:r>
              <a:rPr lang="en-US" sz="3500" b="1">
                <a:solidFill>
                  <a:srgbClr val="00B0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(20%)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6610" y="1902839"/>
            <a:ext cx="16640099" cy="7760642"/>
            <a:chOff x="0" y="0"/>
            <a:chExt cx="22186799" cy="10347523"/>
          </a:xfrm>
        </p:grpSpPr>
        <p:sp>
          <p:nvSpPr>
            <p:cNvPr id="3" name="Freeform 3"/>
            <p:cNvSpPr/>
            <p:nvPr/>
          </p:nvSpPr>
          <p:spPr>
            <a:xfrm>
              <a:off x="2287901" y="0"/>
              <a:ext cx="19898898" cy="10347523"/>
            </a:xfrm>
            <a:custGeom>
              <a:avLst/>
              <a:gdLst/>
              <a:ahLst/>
              <a:cxnLst/>
              <a:rect l="l" t="t" r="r" b="b"/>
              <a:pathLst>
                <a:path w="19898898" h="10347523">
                  <a:moveTo>
                    <a:pt x="0" y="0"/>
                  </a:moveTo>
                  <a:lnTo>
                    <a:pt x="19898898" y="0"/>
                  </a:lnTo>
                  <a:lnTo>
                    <a:pt x="19898898" y="10347523"/>
                  </a:lnTo>
                  <a:lnTo>
                    <a:pt x="0" y="10347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8" r="-608"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2287901" y="1088975"/>
              <a:ext cx="19692106" cy="7146152"/>
              <a:chOff x="0" y="0"/>
              <a:chExt cx="3889799" cy="14115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889799" cy="1411586"/>
              </a:xfrm>
              <a:custGeom>
                <a:avLst/>
                <a:gdLst/>
                <a:ahLst/>
                <a:cxnLst/>
                <a:rect l="l" t="t" r="r" b="b"/>
                <a:pathLst>
                  <a:path w="3889799" h="1411586">
                    <a:moveTo>
                      <a:pt x="0" y="0"/>
                    </a:moveTo>
                    <a:lnTo>
                      <a:pt x="3889799" y="0"/>
                    </a:lnTo>
                    <a:lnTo>
                      <a:pt x="3889799" y="1411586"/>
                    </a:lnTo>
                    <a:lnTo>
                      <a:pt x="0" y="141158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B052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3889799" cy="1440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287901" y="8393687"/>
              <a:ext cx="19692106" cy="1953836"/>
              <a:chOff x="0" y="0"/>
              <a:chExt cx="3889799" cy="3859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889799" cy="385943"/>
              </a:xfrm>
              <a:custGeom>
                <a:avLst/>
                <a:gdLst/>
                <a:ahLst/>
                <a:cxnLst/>
                <a:rect l="l" t="t" r="r" b="b"/>
                <a:pathLst>
                  <a:path w="3889799" h="385943">
                    <a:moveTo>
                      <a:pt x="0" y="0"/>
                    </a:moveTo>
                    <a:lnTo>
                      <a:pt x="3889799" y="0"/>
                    </a:lnTo>
                    <a:lnTo>
                      <a:pt x="3889799" y="385943"/>
                    </a:lnTo>
                    <a:lnTo>
                      <a:pt x="0" y="38594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6D4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3889799" cy="4145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3545616"/>
              <a:ext cx="2033594" cy="1063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7"/>
                </a:lnSpc>
              </a:pPr>
              <a:r>
                <a:rPr lang="en-US" sz="292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Training </a:t>
              </a:r>
            </a:p>
            <a:p>
              <a:pPr algn="ctr">
                <a:lnSpc>
                  <a:spcPts val="3097"/>
                </a:lnSpc>
              </a:pPr>
              <a:r>
                <a:rPr lang="en-US" sz="292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8725" y="8431787"/>
              <a:ext cx="1244843" cy="10831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92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Test </a:t>
              </a:r>
            </a:p>
            <a:p>
              <a:pPr algn="ctr">
                <a:lnSpc>
                  <a:spcPts val="3184"/>
                </a:lnSpc>
              </a:pPr>
              <a:r>
                <a:rPr lang="en-US" sz="292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5159" y="4427680"/>
              <a:ext cx="1223275" cy="76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09"/>
                </a:lnSpc>
                <a:spcBef>
                  <a:spcPct val="0"/>
                </a:spcBef>
              </a:pPr>
              <a:r>
                <a:rPr lang="en-US" sz="2901" b="1">
                  <a:solidFill>
                    <a:srgbClr val="0097B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0318" y="9333933"/>
              <a:ext cx="1223275" cy="76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09"/>
                </a:lnSpc>
                <a:spcBef>
                  <a:spcPct val="0"/>
                </a:spcBef>
              </a:pPr>
              <a:r>
                <a:rPr lang="en-US" sz="2901" b="1">
                  <a:solidFill>
                    <a:srgbClr val="0097B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20%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-1204287" y="363542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Dividing training and test data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542" y="1681887"/>
            <a:ext cx="14844539" cy="6923225"/>
            <a:chOff x="0" y="0"/>
            <a:chExt cx="19792719" cy="9230967"/>
          </a:xfrm>
        </p:grpSpPr>
        <p:sp>
          <p:nvSpPr>
            <p:cNvPr id="3" name="Freeform 3"/>
            <p:cNvSpPr/>
            <p:nvPr/>
          </p:nvSpPr>
          <p:spPr>
            <a:xfrm>
              <a:off x="2041024" y="0"/>
              <a:ext cx="17751695" cy="9230967"/>
            </a:xfrm>
            <a:custGeom>
              <a:avLst/>
              <a:gdLst/>
              <a:ahLst/>
              <a:cxnLst/>
              <a:rect l="l" t="t" r="r" b="b"/>
              <a:pathLst>
                <a:path w="17751695" h="9230967">
                  <a:moveTo>
                    <a:pt x="0" y="0"/>
                  </a:moveTo>
                  <a:lnTo>
                    <a:pt x="17751695" y="0"/>
                  </a:lnTo>
                  <a:lnTo>
                    <a:pt x="17751695" y="9230967"/>
                  </a:lnTo>
                  <a:lnTo>
                    <a:pt x="0" y="9230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8" r="-608"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2041024" y="971468"/>
              <a:ext cx="17567217" cy="6375042"/>
              <a:chOff x="0" y="0"/>
              <a:chExt cx="3889799" cy="14115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889799" cy="1411586"/>
              </a:xfrm>
              <a:custGeom>
                <a:avLst/>
                <a:gdLst/>
                <a:ahLst/>
                <a:cxnLst/>
                <a:rect l="l" t="t" r="r" b="b"/>
                <a:pathLst>
                  <a:path w="3889799" h="1411586">
                    <a:moveTo>
                      <a:pt x="0" y="0"/>
                    </a:moveTo>
                    <a:lnTo>
                      <a:pt x="3889799" y="0"/>
                    </a:lnTo>
                    <a:lnTo>
                      <a:pt x="3889799" y="1411586"/>
                    </a:lnTo>
                    <a:lnTo>
                      <a:pt x="0" y="141158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B052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3889799" cy="1440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041024" y="7487961"/>
              <a:ext cx="17567217" cy="1743006"/>
              <a:chOff x="0" y="0"/>
              <a:chExt cx="3889799" cy="3859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889799" cy="385943"/>
              </a:xfrm>
              <a:custGeom>
                <a:avLst/>
                <a:gdLst/>
                <a:ahLst/>
                <a:cxnLst/>
                <a:rect l="l" t="t" r="r" b="b"/>
                <a:pathLst>
                  <a:path w="3889799" h="385943">
                    <a:moveTo>
                      <a:pt x="0" y="0"/>
                    </a:moveTo>
                    <a:lnTo>
                      <a:pt x="3889799" y="0"/>
                    </a:lnTo>
                    <a:lnTo>
                      <a:pt x="3889799" y="385943"/>
                    </a:lnTo>
                    <a:lnTo>
                      <a:pt x="0" y="38594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6D4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3889799" cy="4145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3149113"/>
              <a:ext cx="1814158" cy="9622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62"/>
                </a:lnSpc>
              </a:pPr>
              <a:r>
                <a:rPr lang="en-US" sz="2606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Training </a:t>
              </a:r>
            </a:p>
            <a:p>
              <a:pPr algn="ctr">
                <a:lnSpc>
                  <a:spcPts val="2762"/>
                </a:lnSpc>
              </a:pPr>
              <a:r>
                <a:rPr lang="en-US" sz="2606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3617" y="7507011"/>
              <a:ext cx="1110517" cy="9811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1"/>
                </a:lnSpc>
              </a:pPr>
              <a:r>
                <a:rPr lang="en-US" sz="2606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Test </a:t>
              </a:r>
            </a:p>
            <a:p>
              <a:pPr algn="ctr">
                <a:lnSpc>
                  <a:spcPts val="2841"/>
                </a:lnSpc>
              </a:pPr>
              <a:r>
                <a:rPr lang="en-US" sz="2606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1440" y="3949430"/>
              <a:ext cx="1091277" cy="684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36"/>
                </a:lnSpc>
                <a:spcBef>
                  <a:spcPct val="0"/>
                </a:spcBef>
              </a:pPr>
              <a:r>
                <a:rPr lang="en-US" sz="2588" b="1">
                  <a:solidFill>
                    <a:srgbClr val="0097B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2881" y="8326271"/>
              <a:ext cx="1091277" cy="684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36"/>
                </a:lnSpc>
                <a:spcBef>
                  <a:spcPct val="0"/>
                </a:spcBef>
              </a:pPr>
              <a:r>
                <a:rPr lang="en-US" sz="2588" b="1">
                  <a:solidFill>
                    <a:srgbClr val="0097B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20%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186470" y="7621835"/>
              <a:ext cx="16121059" cy="1448484"/>
              <a:chOff x="0" y="0"/>
              <a:chExt cx="3569585" cy="32072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569585" cy="320729"/>
              </a:xfrm>
              <a:custGeom>
                <a:avLst/>
                <a:gdLst/>
                <a:ahLst/>
                <a:cxnLst/>
                <a:rect l="l" t="t" r="r" b="b"/>
                <a:pathLst>
                  <a:path w="3569585" h="320729">
                    <a:moveTo>
                      <a:pt x="0" y="0"/>
                    </a:moveTo>
                    <a:lnTo>
                      <a:pt x="3569585" y="0"/>
                    </a:lnTo>
                    <a:lnTo>
                      <a:pt x="3569585" y="320729"/>
                    </a:lnTo>
                    <a:lnTo>
                      <a:pt x="0" y="32072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1800AD"/>
                </a:solidFill>
                <a:prstDash val="dash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3569585" cy="349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186470" y="1109415"/>
              <a:ext cx="16121059" cy="6107294"/>
              <a:chOff x="0" y="0"/>
              <a:chExt cx="3569585" cy="13523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569585" cy="1352300"/>
              </a:xfrm>
              <a:custGeom>
                <a:avLst/>
                <a:gdLst/>
                <a:ahLst/>
                <a:cxnLst/>
                <a:rect l="l" t="t" r="r" b="b"/>
                <a:pathLst>
                  <a:path w="3569585" h="1352300">
                    <a:moveTo>
                      <a:pt x="0" y="0"/>
                    </a:moveTo>
                    <a:lnTo>
                      <a:pt x="3569585" y="0"/>
                    </a:lnTo>
                    <a:lnTo>
                      <a:pt x="3569585" y="1352300"/>
                    </a:lnTo>
                    <a:lnTo>
                      <a:pt x="0" y="13523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1800AD"/>
                </a:solidFill>
                <a:prstDash val="dash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3569585" cy="138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8835262" y="1109415"/>
              <a:ext cx="610993" cy="6107294"/>
              <a:chOff x="0" y="0"/>
              <a:chExt cx="135288" cy="13523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35288" cy="1352300"/>
              </a:xfrm>
              <a:custGeom>
                <a:avLst/>
                <a:gdLst/>
                <a:ahLst/>
                <a:cxnLst/>
                <a:rect l="l" t="t" r="r" b="b"/>
                <a:pathLst>
                  <a:path w="135288" h="1352300">
                    <a:moveTo>
                      <a:pt x="0" y="0"/>
                    </a:moveTo>
                    <a:lnTo>
                      <a:pt x="135288" y="0"/>
                    </a:lnTo>
                    <a:lnTo>
                      <a:pt x="135288" y="1352300"/>
                    </a:lnTo>
                    <a:lnTo>
                      <a:pt x="0" y="13523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AF4C0F"/>
                </a:solidFill>
                <a:prstDash val="dash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135288" cy="138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8835262" y="7621835"/>
              <a:ext cx="610993" cy="1448484"/>
              <a:chOff x="0" y="0"/>
              <a:chExt cx="135288" cy="32072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35288" cy="320729"/>
              </a:xfrm>
              <a:custGeom>
                <a:avLst/>
                <a:gdLst/>
                <a:ahLst/>
                <a:cxnLst/>
                <a:rect l="l" t="t" r="r" b="b"/>
                <a:pathLst>
                  <a:path w="135288" h="320729">
                    <a:moveTo>
                      <a:pt x="0" y="0"/>
                    </a:moveTo>
                    <a:lnTo>
                      <a:pt x="135288" y="0"/>
                    </a:lnTo>
                    <a:lnTo>
                      <a:pt x="135288" y="320729"/>
                    </a:lnTo>
                    <a:lnTo>
                      <a:pt x="0" y="32072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AF4C0F"/>
                </a:solidFill>
                <a:prstDash val="dash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135288" cy="3493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0"/>
                  </a:lnSpc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2978445" y="658768"/>
            <a:ext cx="1253998" cy="577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  <a:spcBef>
                <a:spcPct val="0"/>
              </a:spcBef>
            </a:pPr>
            <a:r>
              <a:rPr lang="en-US" sz="274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X_train</a:t>
            </a:r>
            <a:endParaRPr lang="en-US" sz="274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120421" y="9096375"/>
            <a:ext cx="1112022" cy="577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  <a:spcBef>
                <a:spcPct val="0"/>
              </a:spcBef>
            </a:pPr>
            <a:r>
              <a:rPr lang="en-US" sz="274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X_test</a:t>
            </a:r>
            <a:endParaRPr lang="en-US" sz="274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533456" y="1250177"/>
            <a:ext cx="1253999" cy="1253999"/>
          </a:xfrm>
          <a:prstGeom prst="line">
            <a:avLst/>
          </a:prstGeom>
          <a:ln w="38100" cap="flat">
            <a:solidFill>
              <a:srgbClr val="FFBD5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9" name="AutoShape 29"/>
          <p:cNvSpPr/>
          <p:nvPr/>
        </p:nvSpPr>
        <p:spPr>
          <a:xfrm flipV="1">
            <a:off x="3653909" y="8409825"/>
            <a:ext cx="1299019" cy="861945"/>
          </a:xfrm>
          <a:prstGeom prst="line">
            <a:avLst/>
          </a:prstGeom>
          <a:ln w="38100" cap="flat">
            <a:solidFill>
              <a:srgbClr val="FFBD5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TextBox 30"/>
          <p:cNvSpPr txBox="1"/>
          <p:nvPr/>
        </p:nvSpPr>
        <p:spPr>
          <a:xfrm>
            <a:off x="14637714" y="658768"/>
            <a:ext cx="1253998" cy="577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  <a:spcBef>
                <a:spcPct val="0"/>
              </a:spcBef>
            </a:pPr>
            <a:r>
              <a:rPr lang="en-US" sz="27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y_train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4890111" y="1244305"/>
            <a:ext cx="623718" cy="1434079"/>
          </a:xfrm>
          <a:prstGeom prst="line">
            <a:avLst/>
          </a:prstGeom>
          <a:ln w="38100" cap="flat">
            <a:solidFill>
              <a:srgbClr val="FFBD5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2" name="TextBox 32"/>
          <p:cNvSpPr txBox="1"/>
          <p:nvPr/>
        </p:nvSpPr>
        <p:spPr>
          <a:xfrm>
            <a:off x="14708749" y="9109845"/>
            <a:ext cx="1040034" cy="577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  <a:spcBef>
                <a:spcPct val="0"/>
              </a:spcBef>
            </a:pPr>
            <a:r>
              <a:rPr lang="en-US" sz="274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y_test</a:t>
            </a:r>
            <a:endParaRPr lang="en-US" sz="274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3" name="AutoShape 33"/>
          <p:cNvSpPr/>
          <p:nvPr/>
        </p:nvSpPr>
        <p:spPr>
          <a:xfrm flipV="1">
            <a:off x="15201970" y="8409825"/>
            <a:ext cx="311859" cy="861945"/>
          </a:xfrm>
          <a:prstGeom prst="line">
            <a:avLst/>
          </a:prstGeom>
          <a:ln w="38100" cap="flat">
            <a:solidFill>
              <a:srgbClr val="FFBD5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4" name="TextBox 34"/>
          <p:cNvSpPr txBox="1"/>
          <p:nvPr/>
        </p:nvSpPr>
        <p:spPr>
          <a:xfrm>
            <a:off x="2073284" y="259187"/>
            <a:ext cx="3134308" cy="56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2"/>
              </a:lnSpc>
              <a:spcBef>
                <a:spcPct val="0"/>
              </a:spcBef>
            </a:pPr>
            <a:r>
              <a:rPr lang="en-US" sz="264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training data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89814" y="9512388"/>
            <a:ext cx="2501248" cy="56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2"/>
              </a:lnSpc>
              <a:spcBef>
                <a:spcPct val="0"/>
              </a:spcBef>
            </a:pPr>
            <a:r>
              <a:rPr lang="en-US" sz="2640" b="1" dirty="0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test data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06938" y="9512388"/>
            <a:ext cx="2790064" cy="56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2"/>
              </a:lnSpc>
              <a:spcBef>
                <a:spcPct val="0"/>
              </a:spcBef>
            </a:pPr>
            <a:r>
              <a:rPr lang="en-US" sz="264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test data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490408" y="275150"/>
            <a:ext cx="3423124" cy="56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2"/>
              </a:lnSpc>
              <a:spcBef>
                <a:spcPct val="0"/>
              </a:spcBef>
            </a:pPr>
            <a:r>
              <a:rPr lang="en-US" sz="264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training data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86958" y="652830"/>
            <a:ext cx="21461916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Standardization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70712" y="2116497"/>
            <a:ext cx="15101888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Standardization is a technique that is applied to input features to move our data points towards center so that our model can be trained with ease and improves the accuracy of our model.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672718" y="4494572"/>
            <a:ext cx="16383992" cy="5093897"/>
            <a:chOff x="0" y="0"/>
            <a:chExt cx="21845322" cy="6791863"/>
          </a:xfrm>
        </p:grpSpPr>
        <p:sp>
          <p:nvSpPr>
            <p:cNvPr id="5" name="AutoShape 5"/>
            <p:cNvSpPr/>
            <p:nvPr/>
          </p:nvSpPr>
          <p:spPr>
            <a:xfrm>
              <a:off x="0" y="3960037"/>
              <a:ext cx="865632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AutoShape 6"/>
            <p:cNvSpPr/>
            <p:nvPr/>
          </p:nvSpPr>
          <p:spPr>
            <a:xfrm>
              <a:off x="13189002" y="3985437"/>
              <a:ext cx="865632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4328160" y="1136177"/>
              <a:ext cx="0" cy="561285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>
              <a:off x="17437116" y="1179010"/>
              <a:ext cx="0" cy="561285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239665" y="97907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55126" y="5467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30603" y="17659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55126" y="15627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85865" y="11966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33610" y="17659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83387" y="22241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05787" y="15627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2737" y="3883837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2987" y="28337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17865" y="162499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99387" y="32401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8665" y="4384209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38310" y="321427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45342" y="33915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12187" y="40529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60226" y="48657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33610" y="4384209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21787" y="46625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71565" y="296892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977693" y="33915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665716" y="33915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896538" y="16145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960699" y="30369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55130" y="321427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640316" y="2859698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64116" y="233341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500616" y="2046337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084607" y="196916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051822" y="240147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960699" y="2046337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566999" y="2478649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666377" y="294352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101000" y="2559713"/>
              <a:ext cx="316030" cy="1764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9"/>
                </a:lnSpc>
                <a:spcBef>
                  <a:spcPct val="0"/>
                </a:spcBef>
              </a:pPr>
              <a:r>
                <a:rPr lang="en-US" sz="6764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757499" y="219827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736677" y="2198275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538716" y="31131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790285" y="2046337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074338" y="3113186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031000" y="2308013"/>
              <a:ext cx="294323" cy="165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28"/>
                </a:lnSpc>
                <a:spcBef>
                  <a:spcPct val="0"/>
                </a:spcBef>
              </a:pPr>
              <a:r>
                <a:rPr lang="en-US" sz="6299" b="1">
                  <a:solidFill>
                    <a:srgbClr val="00B0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</a:t>
              </a:r>
            </a:p>
          </p:txBody>
        </p:sp>
        <p:sp>
          <p:nvSpPr>
            <p:cNvPr id="49" name="AutoShape 49"/>
            <p:cNvSpPr/>
            <p:nvPr/>
          </p:nvSpPr>
          <p:spPr>
            <a:xfrm flipH="1">
              <a:off x="18382453" y="1814522"/>
              <a:ext cx="1368151" cy="123150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0" name="AutoShape 50"/>
            <p:cNvSpPr/>
            <p:nvPr/>
          </p:nvSpPr>
          <p:spPr>
            <a:xfrm flipH="1">
              <a:off x="6145080" y="1811585"/>
              <a:ext cx="1368151" cy="123150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8516616" y="1103228"/>
              <a:ext cx="3088447" cy="669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07"/>
                </a:lnSpc>
                <a:spcBef>
                  <a:spcPct val="0"/>
                </a:spcBef>
              </a:pPr>
              <a:r>
                <a:rPr lang="en-US" sz="2517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Zero-centered 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38310" y="1112753"/>
              <a:ext cx="2134533" cy="6589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4"/>
                </a:lnSpc>
                <a:spcBef>
                  <a:spcPct val="0"/>
                </a:spcBef>
              </a:pPr>
              <a:r>
                <a:rPr lang="en-US" sz="251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Scattered 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63993" y="-190500"/>
              <a:ext cx="6163667" cy="8261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65"/>
                </a:lnSpc>
                <a:spcBef>
                  <a:spcPct val="0"/>
                </a:spcBef>
              </a:pPr>
              <a:r>
                <a:rPr lang="en-US" sz="3150" b="1">
                  <a:solidFill>
                    <a:srgbClr val="FF6D4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Before Standardization 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157416" y="-136203"/>
              <a:ext cx="6559400" cy="7818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49"/>
                </a:lnSpc>
                <a:spcBef>
                  <a:spcPct val="0"/>
                </a:spcBef>
              </a:pPr>
              <a:r>
                <a:rPr lang="en-US" sz="2978" b="1">
                  <a:solidFill>
                    <a:srgbClr val="FF6D4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After Standardization 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83907" y="-2038022"/>
            <a:ext cx="9404093" cy="13328151"/>
          </a:xfrm>
          <a:custGeom>
            <a:avLst/>
            <a:gdLst/>
            <a:ahLst/>
            <a:cxnLst/>
            <a:rect l="l" t="t" r="r" b="b"/>
            <a:pathLst>
              <a:path w="9404093" h="13328151">
                <a:moveTo>
                  <a:pt x="0" y="0"/>
                </a:moveTo>
                <a:lnTo>
                  <a:pt x="9404093" y="0"/>
                </a:lnTo>
                <a:lnTo>
                  <a:pt x="9404093" y="13328151"/>
                </a:lnTo>
                <a:lnTo>
                  <a:pt x="0" y="13328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8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367576" y="3304750"/>
            <a:ext cx="21461916" cy="291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31"/>
              </a:lnSpc>
            </a:pPr>
            <a:r>
              <a:rPr lang="en-US" sz="11699" b="1" spc="-49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&amp; ML</a:t>
            </a:r>
          </a:p>
          <a:p>
            <a:pPr algn="ctr">
              <a:lnSpc>
                <a:spcPts val="11231"/>
              </a:lnSpc>
            </a:pPr>
            <a:r>
              <a:rPr lang="en-US" sz="11699" b="1" spc="-491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ROADMAP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67349" y="0"/>
            <a:ext cx="8319640" cy="10287000"/>
          </a:xfrm>
          <a:custGeom>
            <a:avLst/>
            <a:gdLst/>
            <a:ahLst/>
            <a:cxnLst/>
            <a:rect l="l" t="t" r="r" b="b"/>
            <a:pathLst>
              <a:path w="8319640" h="10287000">
                <a:moveTo>
                  <a:pt x="0" y="0"/>
                </a:moveTo>
                <a:lnTo>
                  <a:pt x="8319640" y="0"/>
                </a:lnTo>
                <a:lnTo>
                  <a:pt x="83196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7" b="-547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233" y="3726046"/>
            <a:ext cx="16925534" cy="2415147"/>
            <a:chOff x="0" y="0"/>
            <a:chExt cx="22567378" cy="3220196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0"/>
              <a:ext cx="22567378" cy="2191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823"/>
                </a:lnSpc>
              </a:pPr>
              <a:r>
                <a:rPr lang="en-US" sz="9873" b="1">
                  <a:solidFill>
                    <a:srgbClr val="0097B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Thank You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06724" y="1886712"/>
              <a:ext cx="15564010" cy="13334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ML is the new Future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772</Words>
  <Application>Microsoft Office PowerPoint</Application>
  <PresentationFormat>Custom</PresentationFormat>
  <Paragraphs>154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Bricolage Grotesque</vt:lpstr>
      <vt:lpstr>Calibri</vt:lpstr>
      <vt:lpstr>Canva Sans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heading</dc:title>
  <cp:lastModifiedBy>Trishansh Sahane</cp:lastModifiedBy>
  <cp:revision>3</cp:revision>
  <dcterms:created xsi:type="dcterms:W3CDTF">2006-08-16T00:00:00Z</dcterms:created>
  <dcterms:modified xsi:type="dcterms:W3CDTF">2025-09-24T17:57:22Z</dcterms:modified>
  <dc:identifier>DAGxegIGkho</dc:identifier>
</cp:coreProperties>
</file>