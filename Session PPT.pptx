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18288000" cy="10287000"/>
  <p:notesSz cx="6858000" cy="9144000"/>
  <p:embeddedFontLst>
    <p:embeddedFont>
      <p:font typeface="Bricolage Grotesque" panose="020B0604020202020204" charset="0"/>
      <p:regular r:id="rId22"/>
    </p:embeddedFont>
    <p:embeddedFont>
      <p:font typeface="Canva Sans" panose="020B0604020202020204" charset="0"/>
      <p:regular r:id="rId23"/>
    </p:embeddedFont>
    <p:embeddedFont>
      <p:font typeface="Canva Sans Bold" panose="020B0604020202020204" charset="0"/>
      <p:regular r:id="rId24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52" d="100"/>
          <a:sy n="52" d="100"/>
        </p:scale>
        <p:origin x="850" y="6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3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2.fntdata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1.fntdata"/><Relationship Id="rId27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4/16/2026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81232" y="3726046"/>
            <a:ext cx="17073367" cy="2415147"/>
            <a:chOff x="0" y="0"/>
            <a:chExt cx="22567378" cy="3220196"/>
          </a:xfrm>
        </p:grpSpPr>
        <p:sp>
          <p:nvSpPr>
            <p:cNvPr id="3" name="TextBox 3"/>
            <p:cNvSpPr txBox="1"/>
            <p:nvPr/>
          </p:nvSpPr>
          <p:spPr>
            <a:xfrm>
              <a:off x="0" y="-190500"/>
              <a:ext cx="22567378" cy="219151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823"/>
                </a:lnSpc>
              </a:pPr>
              <a:r>
                <a:rPr lang="en-US" sz="9873" b="1" dirty="0">
                  <a:solidFill>
                    <a:srgbClr val="0097B2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Machine Learning Unfolded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3206724" y="1886712"/>
              <a:ext cx="15564010" cy="133348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8400"/>
                </a:lnSpc>
                <a:spcBef>
                  <a:spcPct val="0"/>
                </a:spcBef>
              </a:pPr>
              <a:r>
                <a:rPr lang="en-US" sz="6000" b="1">
                  <a:solidFill>
                    <a:srgbClr val="000000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Step into the Future with AI/ML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401537" y="-2037000"/>
            <a:ext cx="15071533" cy="13382342"/>
            <a:chOff x="0" y="0"/>
            <a:chExt cx="20095378" cy="17843123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9789045" cy="17843123"/>
            </a:xfrm>
            <a:custGeom>
              <a:avLst/>
              <a:gdLst/>
              <a:ahLst/>
              <a:cxnLst/>
              <a:rect l="l" t="t" r="r" b="b"/>
              <a:pathLst>
                <a:path w="19789045" h="17843123">
                  <a:moveTo>
                    <a:pt x="0" y="0"/>
                  </a:moveTo>
                  <a:lnTo>
                    <a:pt x="19789045" y="0"/>
                  </a:lnTo>
                  <a:lnTo>
                    <a:pt x="19789045" y="17843123"/>
                  </a:lnTo>
                  <a:lnTo>
                    <a:pt x="0" y="1784312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</p:sp>
        <p:grpSp>
          <p:nvGrpSpPr>
            <p:cNvPr id="4" name="Group 4"/>
            <p:cNvGrpSpPr/>
            <p:nvPr/>
          </p:nvGrpSpPr>
          <p:grpSpPr>
            <a:xfrm>
              <a:off x="9894523" y="6332461"/>
              <a:ext cx="10200855" cy="7258289"/>
              <a:chOff x="0" y="0"/>
              <a:chExt cx="1142315" cy="812800"/>
            </a:xfrm>
          </p:grpSpPr>
          <p:sp>
            <p:nvSpPr>
              <p:cNvPr id="5" name="Freeform 5"/>
              <p:cNvSpPr/>
              <p:nvPr/>
            </p:nvSpPr>
            <p:spPr>
              <a:xfrm>
                <a:off x="0" y="0"/>
                <a:ext cx="1142315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1142315" h="812800">
                    <a:moveTo>
                      <a:pt x="571158" y="0"/>
                    </a:moveTo>
                    <a:cubicBezTo>
                      <a:pt x="255716" y="0"/>
                      <a:pt x="0" y="181951"/>
                      <a:pt x="0" y="406400"/>
                    </a:cubicBezTo>
                    <a:cubicBezTo>
                      <a:pt x="0" y="630849"/>
                      <a:pt x="255716" y="812800"/>
                      <a:pt x="571158" y="812800"/>
                    </a:cubicBezTo>
                    <a:cubicBezTo>
                      <a:pt x="886599" y="812800"/>
                      <a:pt x="1142315" y="630849"/>
                      <a:pt x="1142315" y="406400"/>
                    </a:cubicBezTo>
                    <a:cubicBezTo>
                      <a:pt x="1142315" y="181951"/>
                      <a:pt x="886599" y="0"/>
                      <a:pt x="571158" y="0"/>
                    </a:cubicBezTo>
                    <a:close/>
                  </a:path>
                </a:pathLst>
              </a:custGeom>
              <a:solidFill>
                <a:srgbClr val="B4B4B4">
                  <a:alpha val="52941"/>
                </a:srgbClr>
              </a:solidFill>
            </p:spPr>
          </p:sp>
          <p:sp>
            <p:nvSpPr>
              <p:cNvPr id="6" name="TextBox 6"/>
              <p:cNvSpPr txBox="1"/>
              <p:nvPr/>
            </p:nvSpPr>
            <p:spPr>
              <a:xfrm>
                <a:off x="107092" y="38100"/>
                <a:ext cx="928131" cy="6985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  <a:spcBef>
                    <a:spcPct val="0"/>
                  </a:spcBef>
                </a:pPr>
                <a:endParaRPr/>
              </a:p>
            </p:txBody>
          </p:sp>
        </p:grpSp>
      </p:grpSp>
      <p:sp>
        <p:nvSpPr>
          <p:cNvPr id="7" name="TextBox 7"/>
          <p:cNvSpPr txBox="1"/>
          <p:nvPr/>
        </p:nvSpPr>
        <p:spPr>
          <a:xfrm>
            <a:off x="10057770" y="5067300"/>
            <a:ext cx="3382804" cy="7122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890"/>
              </a:lnSpc>
              <a:spcBef>
                <a:spcPct val="0"/>
              </a:spcBef>
            </a:pPr>
            <a:r>
              <a:rPr lang="en-US" sz="4207">
                <a:solidFill>
                  <a:srgbClr val="656565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Data Science 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588175" y="403631"/>
            <a:ext cx="15249618" cy="136841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1200"/>
              </a:lnSpc>
            </a:pPr>
            <a:r>
              <a:rPr lang="en-US" sz="8000" b="1" dirty="0">
                <a:solidFill>
                  <a:srgbClr val="0097B2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AI vs ML vs DL vs Data Science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1450207" y="2127412"/>
            <a:ext cx="15387586" cy="67881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4900"/>
              </a:lnSpc>
              <a:spcBef>
                <a:spcPct val="0"/>
              </a:spcBef>
            </a:pPr>
            <a:r>
              <a:rPr lang="en-US" sz="3500" b="1">
                <a:solidFill>
                  <a:srgbClr val="FF6D4D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Artificial Intelligence (AI) :</a:t>
            </a:r>
            <a:r>
              <a:rPr lang="en-US" sz="3500" b="1">
                <a:solidFill>
                  <a:srgbClr val="0097B2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 </a:t>
            </a:r>
            <a:r>
              <a:rPr lang="en-US" sz="350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A broader concept the "universe". AI enables an application to perform a task without human intervention</a:t>
            </a:r>
            <a:r>
              <a:rPr lang="en-US" sz="3500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.</a:t>
            </a:r>
          </a:p>
          <a:p>
            <a:pPr algn="just">
              <a:lnSpc>
                <a:spcPts val="4900"/>
              </a:lnSpc>
              <a:spcBef>
                <a:spcPct val="0"/>
              </a:spcBef>
            </a:pPr>
            <a:r>
              <a:rPr lang="en-US" sz="3500" b="1">
                <a:solidFill>
                  <a:srgbClr val="FF6D4D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Machine Learning (ML) :</a:t>
            </a:r>
            <a:r>
              <a:rPr lang="en-US" sz="3500" b="1">
                <a:solidFill>
                  <a:srgbClr val="0097B2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 </a:t>
            </a:r>
            <a:r>
              <a:rPr lang="en-US" sz="350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A subset of AI. It provides statistical tools to analyze, visualize, predict, and forecast the data.</a:t>
            </a:r>
            <a:r>
              <a:rPr lang="en-US" sz="3500" b="1">
                <a:solidFill>
                  <a:srgbClr val="0097B2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 </a:t>
            </a:r>
          </a:p>
          <a:p>
            <a:pPr algn="just">
              <a:lnSpc>
                <a:spcPts val="4900"/>
              </a:lnSpc>
              <a:spcBef>
                <a:spcPct val="0"/>
              </a:spcBef>
            </a:pPr>
            <a:r>
              <a:rPr lang="en-US" sz="3500" b="1">
                <a:solidFill>
                  <a:srgbClr val="FF6D4D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Deep Learning (DL) :</a:t>
            </a:r>
            <a:r>
              <a:rPr lang="en-US" sz="3500" b="1">
                <a:solidFill>
                  <a:srgbClr val="0097B2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 </a:t>
            </a:r>
            <a:r>
              <a:rPr lang="en-US" sz="350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A subset of ML that uses multilayered neural networks that works on neural network that tries to mimic like human brain.</a:t>
            </a:r>
          </a:p>
          <a:p>
            <a:pPr algn="just">
              <a:lnSpc>
                <a:spcPts val="4900"/>
              </a:lnSpc>
              <a:spcBef>
                <a:spcPct val="0"/>
              </a:spcBef>
            </a:pPr>
            <a:r>
              <a:rPr lang="en-US" sz="3500" b="1">
                <a:solidFill>
                  <a:srgbClr val="FF6D4D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Data Science (DS) : </a:t>
            </a:r>
            <a:r>
              <a:rPr lang="en-US" sz="350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A field that combines AI ML and DL to create AI-powered applications.</a:t>
            </a:r>
          </a:p>
          <a:p>
            <a:pPr algn="just">
              <a:lnSpc>
                <a:spcPts val="4900"/>
              </a:lnSpc>
              <a:spcBef>
                <a:spcPct val="0"/>
              </a:spcBef>
            </a:pPr>
            <a:endParaRPr lang="en-US" sz="3500">
              <a:solidFill>
                <a:srgbClr val="000000"/>
              </a:solidFill>
              <a:latin typeface="Canva Sans"/>
              <a:ea typeface="Canva Sans"/>
              <a:cs typeface="Canva Sans"/>
              <a:sym typeface="Canva Sans"/>
            </a:endParaRPr>
          </a:p>
          <a:p>
            <a:pPr algn="just">
              <a:lnSpc>
                <a:spcPts val="4900"/>
              </a:lnSpc>
              <a:spcBef>
                <a:spcPct val="0"/>
              </a:spcBef>
            </a:pPr>
            <a:r>
              <a:rPr lang="en-US" sz="3500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The main goal is to create an AI-powered application.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3726119" y="488459"/>
            <a:ext cx="10835761" cy="12056457"/>
          </a:xfrm>
          <a:custGeom>
            <a:avLst/>
            <a:gdLst/>
            <a:ahLst/>
            <a:cxnLst/>
            <a:rect l="l" t="t" r="r" b="b"/>
            <a:pathLst>
              <a:path w="10835761" h="12056457">
                <a:moveTo>
                  <a:pt x="0" y="0"/>
                </a:moveTo>
                <a:lnTo>
                  <a:pt x="10835762" y="0"/>
                </a:lnTo>
                <a:lnTo>
                  <a:pt x="10835762" y="12056457"/>
                </a:lnTo>
                <a:lnTo>
                  <a:pt x="0" y="1205645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2417564" y="103186"/>
            <a:ext cx="13584436" cy="136841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1200"/>
              </a:lnSpc>
            </a:pPr>
            <a:r>
              <a:rPr lang="en-US" sz="8000" b="1" dirty="0">
                <a:solidFill>
                  <a:srgbClr val="0097B2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 Types of Machine Learning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1466533" y="1697558"/>
            <a:ext cx="16242967" cy="98837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4900"/>
              </a:lnSpc>
              <a:spcBef>
                <a:spcPct val="0"/>
              </a:spcBef>
            </a:pPr>
            <a:r>
              <a:rPr lang="en-US" sz="3500" b="1">
                <a:solidFill>
                  <a:srgbClr val="FF6D4D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Supervised Learning :</a:t>
            </a:r>
            <a:r>
              <a:rPr lang="en-US" sz="3500" b="1">
                <a:solidFill>
                  <a:srgbClr val="0097B2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 </a:t>
            </a:r>
            <a:r>
              <a:rPr lang="en-US" sz="350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Uses a dataset with both independent (input) and dependent (output) features.</a:t>
            </a:r>
          </a:p>
          <a:p>
            <a:pPr marL="755651" lvl="1" indent="-377825" algn="just">
              <a:lnSpc>
                <a:spcPts val="4900"/>
              </a:lnSpc>
              <a:spcBef>
                <a:spcPct val="0"/>
              </a:spcBef>
              <a:buFont typeface="Arial"/>
              <a:buChar char="•"/>
            </a:pPr>
            <a:r>
              <a:rPr lang="en-US" sz="3500" b="1">
                <a:solidFill>
                  <a:srgbClr val="FF6D4D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Regression : </a:t>
            </a:r>
            <a:r>
              <a:rPr lang="en-US" sz="350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Predicts a continuous output (e.g., house price).</a:t>
            </a:r>
          </a:p>
          <a:p>
            <a:pPr marL="755651" lvl="1" indent="-377825" algn="just">
              <a:lnSpc>
                <a:spcPts val="4900"/>
              </a:lnSpc>
              <a:spcBef>
                <a:spcPct val="0"/>
              </a:spcBef>
              <a:buFont typeface="Arial"/>
              <a:buChar char="•"/>
            </a:pPr>
            <a:r>
              <a:rPr lang="en-US" sz="3500" b="1">
                <a:solidFill>
                  <a:srgbClr val="FF6D4D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Classification : </a:t>
            </a:r>
            <a:r>
              <a:rPr lang="en-US" sz="350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Predicts a categorical output (pass/fail, yes/no).</a:t>
            </a:r>
          </a:p>
          <a:p>
            <a:pPr algn="just">
              <a:lnSpc>
                <a:spcPts val="4900"/>
              </a:lnSpc>
              <a:spcBef>
                <a:spcPct val="0"/>
              </a:spcBef>
            </a:pPr>
            <a:r>
              <a:rPr lang="en-US" sz="3500">
                <a:solidFill>
                  <a:srgbClr val="0097B2"/>
                </a:solidFill>
                <a:latin typeface="Canva Sans"/>
                <a:ea typeface="Canva Sans"/>
                <a:cs typeface="Canva Sans"/>
                <a:sym typeface="Canva Sans"/>
              </a:rPr>
              <a:t>         </a:t>
            </a:r>
            <a:r>
              <a:rPr lang="en-US" sz="350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 - </a:t>
            </a:r>
            <a:r>
              <a:rPr lang="en-US" sz="3500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Binary : </a:t>
            </a:r>
            <a:r>
              <a:rPr lang="en-US" sz="350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Only two output categories (Yes/No)</a:t>
            </a:r>
          </a:p>
          <a:p>
            <a:pPr algn="just">
              <a:lnSpc>
                <a:spcPts val="4900"/>
              </a:lnSpc>
              <a:spcBef>
                <a:spcPct val="0"/>
              </a:spcBef>
            </a:pPr>
            <a:r>
              <a:rPr lang="en-US" sz="3500" b="1">
                <a:solidFill>
                  <a:srgbClr val="0097B2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          </a:t>
            </a:r>
            <a:r>
              <a:rPr lang="en-US" sz="350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- </a:t>
            </a:r>
            <a:r>
              <a:rPr lang="en-US" sz="3500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Multiclass : </a:t>
            </a:r>
            <a:r>
              <a:rPr lang="en-US" sz="350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More than two output categories(Pass/Fail/May Pass)</a:t>
            </a:r>
          </a:p>
          <a:p>
            <a:pPr algn="just">
              <a:lnSpc>
                <a:spcPts val="4900"/>
              </a:lnSpc>
              <a:spcBef>
                <a:spcPct val="0"/>
              </a:spcBef>
            </a:pPr>
            <a:r>
              <a:rPr lang="en-US" sz="3500" b="1">
                <a:solidFill>
                  <a:srgbClr val="FF6D4D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Unsupervised Learning :</a:t>
            </a:r>
            <a:r>
              <a:rPr lang="en-US" sz="3500" b="1">
                <a:solidFill>
                  <a:srgbClr val="0097B2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  </a:t>
            </a:r>
            <a:r>
              <a:rPr lang="en-US" sz="350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Uses a dataset with only independent (input) features. There is no output/dependent feature.</a:t>
            </a:r>
          </a:p>
          <a:p>
            <a:pPr marL="755651" lvl="1" indent="-377825" algn="just">
              <a:lnSpc>
                <a:spcPts val="4900"/>
              </a:lnSpc>
              <a:spcBef>
                <a:spcPct val="0"/>
              </a:spcBef>
              <a:buFont typeface="Arial"/>
              <a:buChar char="•"/>
            </a:pPr>
            <a:r>
              <a:rPr lang="en-US" sz="350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The goal is to find patterns or create clusters in the data.</a:t>
            </a:r>
          </a:p>
          <a:p>
            <a:pPr marL="755651" lvl="1" indent="-377825" algn="just">
              <a:lnSpc>
                <a:spcPts val="4900"/>
              </a:lnSpc>
              <a:spcBef>
                <a:spcPct val="0"/>
              </a:spcBef>
              <a:buFont typeface="Arial"/>
              <a:buChar char="•"/>
            </a:pPr>
            <a:r>
              <a:rPr lang="en-US" sz="350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Example: Customer segmentation based on salary and spending score.</a:t>
            </a:r>
          </a:p>
          <a:p>
            <a:pPr algn="just">
              <a:lnSpc>
                <a:spcPts val="4900"/>
              </a:lnSpc>
              <a:spcBef>
                <a:spcPct val="0"/>
              </a:spcBef>
            </a:pPr>
            <a:r>
              <a:rPr lang="en-US" sz="3500" b="1">
                <a:solidFill>
                  <a:srgbClr val="FF6D4D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Reinforcement Learning : </a:t>
            </a:r>
            <a:r>
              <a:rPr lang="en-US" sz="350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A technique that trains software to make decisions to achieve the most optimal results by using Trial-error method.</a:t>
            </a:r>
          </a:p>
          <a:p>
            <a:pPr algn="just">
              <a:lnSpc>
                <a:spcPts val="4900"/>
              </a:lnSpc>
              <a:spcBef>
                <a:spcPct val="0"/>
              </a:spcBef>
            </a:pPr>
            <a:r>
              <a:rPr lang="en-US" sz="350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Example : Robots</a:t>
            </a:r>
          </a:p>
          <a:p>
            <a:pPr algn="just">
              <a:lnSpc>
                <a:spcPts val="4900"/>
              </a:lnSpc>
              <a:spcBef>
                <a:spcPct val="0"/>
              </a:spcBef>
            </a:pPr>
            <a:endParaRPr lang="en-US" sz="3500">
              <a:solidFill>
                <a:srgbClr val="000000"/>
              </a:solidFill>
              <a:latin typeface="Canva Sans"/>
              <a:ea typeface="Canva Sans"/>
              <a:cs typeface="Canva Sans"/>
              <a:sym typeface="Canva Sans"/>
            </a:endParaRPr>
          </a:p>
          <a:p>
            <a:pPr algn="just">
              <a:lnSpc>
                <a:spcPts val="4900"/>
              </a:lnSpc>
              <a:spcBef>
                <a:spcPct val="0"/>
              </a:spcBef>
            </a:pPr>
            <a:endParaRPr lang="en-US" sz="3500">
              <a:solidFill>
                <a:srgbClr val="000000"/>
              </a:solidFill>
              <a:latin typeface="Canva Sans"/>
              <a:ea typeface="Canva Sans"/>
              <a:cs typeface="Canva Sans"/>
              <a:sym typeface="Canva Sans"/>
            </a:endParaRPr>
          </a:p>
          <a:p>
            <a:pPr algn="just">
              <a:lnSpc>
                <a:spcPts val="4900"/>
              </a:lnSpc>
              <a:spcBef>
                <a:spcPct val="0"/>
              </a:spcBef>
            </a:pPr>
            <a:endParaRPr lang="en-US" sz="3500">
              <a:solidFill>
                <a:srgbClr val="000000"/>
              </a:solidFill>
              <a:latin typeface="Canva Sans"/>
              <a:ea typeface="Canva Sans"/>
              <a:cs typeface="Canva Sans"/>
              <a:sym typeface="Canva Sans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-1586958" y="268292"/>
            <a:ext cx="21461916" cy="13684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1200"/>
              </a:lnSpc>
            </a:pPr>
            <a:r>
              <a:rPr lang="en-US" sz="8000" b="1">
                <a:solidFill>
                  <a:srgbClr val="0097B2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Supervised ML Techniques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2553199" y="1851025"/>
            <a:ext cx="15387586" cy="80264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4900"/>
              </a:lnSpc>
              <a:spcBef>
                <a:spcPct val="0"/>
              </a:spcBef>
            </a:pPr>
            <a:r>
              <a:rPr lang="en-US" sz="3500" b="1">
                <a:solidFill>
                  <a:srgbClr val="FF6D4D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Regression :</a:t>
            </a:r>
          </a:p>
          <a:p>
            <a:pPr algn="just">
              <a:lnSpc>
                <a:spcPts val="4900"/>
              </a:lnSpc>
              <a:spcBef>
                <a:spcPct val="0"/>
              </a:spcBef>
            </a:pPr>
            <a:r>
              <a:rPr lang="en-US" sz="3500" b="1">
                <a:solidFill>
                  <a:srgbClr val="0097B2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    </a:t>
            </a:r>
            <a:r>
              <a:rPr lang="en-US" sz="3500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- Linear Regression</a:t>
            </a:r>
          </a:p>
          <a:p>
            <a:pPr algn="just">
              <a:lnSpc>
                <a:spcPts val="4900"/>
              </a:lnSpc>
              <a:spcBef>
                <a:spcPct val="0"/>
              </a:spcBef>
            </a:pPr>
            <a:r>
              <a:rPr lang="en-US" sz="3500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    - Ridge and Lasso Regression</a:t>
            </a:r>
          </a:p>
          <a:p>
            <a:pPr algn="just">
              <a:lnSpc>
                <a:spcPts val="4900"/>
              </a:lnSpc>
              <a:spcBef>
                <a:spcPct val="0"/>
              </a:spcBef>
            </a:pPr>
            <a:r>
              <a:rPr lang="en-US" sz="3500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    - Elastic Net</a:t>
            </a:r>
          </a:p>
          <a:p>
            <a:pPr algn="just">
              <a:lnSpc>
                <a:spcPts val="4900"/>
              </a:lnSpc>
              <a:spcBef>
                <a:spcPct val="0"/>
              </a:spcBef>
            </a:pPr>
            <a:r>
              <a:rPr lang="en-US" sz="3500" b="1">
                <a:solidFill>
                  <a:srgbClr val="FF6D4D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Classification :</a:t>
            </a:r>
          </a:p>
          <a:p>
            <a:pPr algn="just">
              <a:lnSpc>
                <a:spcPts val="4900"/>
              </a:lnSpc>
              <a:spcBef>
                <a:spcPct val="0"/>
              </a:spcBef>
            </a:pPr>
            <a:r>
              <a:rPr lang="en-US" sz="3500" b="1">
                <a:solidFill>
                  <a:srgbClr val="FF6D4D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    </a:t>
            </a:r>
            <a:r>
              <a:rPr lang="en-US" sz="3500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- Logistic Regression</a:t>
            </a:r>
          </a:p>
          <a:p>
            <a:pPr algn="just">
              <a:lnSpc>
                <a:spcPts val="4900"/>
              </a:lnSpc>
              <a:spcBef>
                <a:spcPct val="0"/>
              </a:spcBef>
            </a:pPr>
            <a:r>
              <a:rPr lang="en-US" sz="3500" b="1">
                <a:solidFill>
                  <a:srgbClr val="FF6D4D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Both Classification and Regression :</a:t>
            </a:r>
          </a:p>
          <a:p>
            <a:pPr algn="just">
              <a:lnSpc>
                <a:spcPts val="4900"/>
              </a:lnSpc>
              <a:spcBef>
                <a:spcPct val="0"/>
              </a:spcBef>
            </a:pPr>
            <a:r>
              <a:rPr lang="en-US" sz="3500">
                <a:solidFill>
                  <a:srgbClr val="0097B2"/>
                </a:solidFill>
                <a:latin typeface="Canva Sans"/>
                <a:ea typeface="Canva Sans"/>
                <a:cs typeface="Canva Sans"/>
                <a:sym typeface="Canva Sans"/>
              </a:rPr>
              <a:t> </a:t>
            </a:r>
            <a:r>
              <a:rPr lang="en-US" sz="3500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   - AdaBoost</a:t>
            </a:r>
          </a:p>
          <a:p>
            <a:pPr algn="just">
              <a:lnSpc>
                <a:spcPts val="4900"/>
              </a:lnSpc>
              <a:spcBef>
                <a:spcPct val="0"/>
              </a:spcBef>
            </a:pPr>
            <a:r>
              <a:rPr lang="en-US" sz="3500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    - XGBoost</a:t>
            </a:r>
          </a:p>
          <a:p>
            <a:pPr algn="just">
              <a:lnSpc>
                <a:spcPts val="4900"/>
              </a:lnSpc>
              <a:spcBef>
                <a:spcPct val="0"/>
              </a:spcBef>
            </a:pPr>
            <a:r>
              <a:rPr lang="en-US" sz="3500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    - Decision Tree</a:t>
            </a:r>
          </a:p>
          <a:p>
            <a:pPr algn="just">
              <a:lnSpc>
                <a:spcPts val="4900"/>
              </a:lnSpc>
              <a:spcBef>
                <a:spcPct val="0"/>
              </a:spcBef>
            </a:pPr>
            <a:r>
              <a:rPr lang="en-US" sz="3500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    - Random Forest</a:t>
            </a:r>
          </a:p>
          <a:p>
            <a:pPr algn="just">
              <a:lnSpc>
                <a:spcPts val="4900"/>
              </a:lnSpc>
              <a:spcBef>
                <a:spcPct val="0"/>
              </a:spcBef>
            </a:pPr>
            <a:endParaRPr lang="en-US" sz="3500" b="1">
              <a:solidFill>
                <a:srgbClr val="000000"/>
              </a:solidFill>
              <a:latin typeface="Canva Sans Bold"/>
              <a:ea typeface="Canva Sans Bold"/>
              <a:cs typeface="Canva Sans Bold"/>
              <a:sym typeface="Canva Sans Bold"/>
            </a:endParaRPr>
          </a:p>
          <a:p>
            <a:pPr algn="just">
              <a:lnSpc>
                <a:spcPts val="4900"/>
              </a:lnSpc>
              <a:spcBef>
                <a:spcPct val="0"/>
              </a:spcBef>
            </a:pPr>
            <a:endParaRPr lang="en-US" sz="3500" b="1">
              <a:solidFill>
                <a:srgbClr val="000000"/>
              </a:solidFill>
              <a:latin typeface="Canva Sans Bold"/>
              <a:ea typeface="Canva Sans Bold"/>
              <a:cs typeface="Canva Sans Bold"/>
              <a:sym typeface="Canva Sans Bold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-1834568" y="266502"/>
            <a:ext cx="21461916" cy="13684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1200"/>
              </a:lnSpc>
            </a:pPr>
            <a:r>
              <a:rPr lang="en-US" sz="8000" b="1">
                <a:solidFill>
                  <a:srgbClr val="0097B2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Unsupervised ML Techniques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1714144" y="1930194"/>
            <a:ext cx="15387586" cy="36925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755651" lvl="1" indent="-377825" algn="just">
              <a:lnSpc>
                <a:spcPts val="4900"/>
              </a:lnSpc>
              <a:buFont typeface="Arial"/>
              <a:buChar char="•"/>
            </a:pPr>
            <a:r>
              <a:rPr lang="en-US" sz="3500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K-Means Clustering</a:t>
            </a:r>
          </a:p>
          <a:p>
            <a:pPr marL="755651" lvl="1" indent="-377825" algn="just">
              <a:lnSpc>
                <a:spcPts val="4900"/>
              </a:lnSpc>
              <a:buFont typeface="Arial"/>
              <a:buChar char="•"/>
            </a:pPr>
            <a:r>
              <a:rPr lang="en-US" sz="3500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Hierarchical Clustering</a:t>
            </a:r>
          </a:p>
          <a:p>
            <a:pPr marL="755651" lvl="1" indent="-377825" algn="just">
              <a:lnSpc>
                <a:spcPts val="4900"/>
              </a:lnSpc>
              <a:buFont typeface="Arial"/>
              <a:buChar char="•"/>
            </a:pPr>
            <a:r>
              <a:rPr lang="en-US" sz="3500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DB-Scan Clustering</a:t>
            </a:r>
          </a:p>
          <a:p>
            <a:pPr algn="just">
              <a:lnSpc>
                <a:spcPts val="4900"/>
              </a:lnSpc>
              <a:spcBef>
                <a:spcPct val="0"/>
              </a:spcBef>
            </a:pPr>
            <a:endParaRPr lang="en-US" sz="3500" b="1">
              <a:solidFill>
                <a:srgbClr val="000000"/>
              </a:solidFill>
              <a:latin typeface="Canva Sans Bold"/>
              <a:ea typeface="Canva Sans Bold"/>
              <a:cs typeface="Canva Sans Bold"/>
              <a:sym typeface="Canva Sans Bold"/>
            </a:endParaRPr>
          </a:p>
          <a:p>
            <a:pPr algn="just">
              <a:lnSpc>
                <a:spcPts val="4900"/>
              </a:lnSpc>
              <a:spcBef>
                <a:spcPct val="0"/>
              </a:spcBef>
            </a:pPr>
            <a:endParaRPr lang="en-US" sz="3500" b="1">
              <a:solidFill>
                <a:srgbClr val="000000"/>
              </a:solidFill>
              <a:latin typeface="Canva Sans Bold"/>
              <a:ea typeface="Canva Sans Bold"/>
              <a:cs typeface="Canva Sans Bold"/>
              <a:sym typeface="Canva Sans Bold"/>
            </a:endParaRPr>
          </a:p>
          <a:p>
            <a:pPr algn="just">
              <a:lnSpc>
                <a:spcPts val="4900"/>
              </a:lnSpc>
              <a:spcBef>
                <a:spcPct val="0"/>
              </a:spcBef>
            </a:pPr>
            <a:endParaRPr lang="en-US" sz="3500" b="1">
              <a:solidFill>
                <a:srgbClr val="000000"/>
              </a:solidFill>
              <a:latin typeface="Canva Sans Bold"/>
              <a:ea typeface="Canva Sans Bold"/>
              <a:cs typeface="Canva Sans Bold"/>
              <a:sym typeface="Canva Sans Bold"/>
            </a:endParaRPr>
          </a:p>
        </p:txBody>
      </p:sp>
      <p:sp>
        <p:nvSpPr>
          <p:cNvPr id="4" name="TextBox 4"/>
          <p:cNvSpPr txBox="1"/>
          <p:nvPr/>
        </p:nvSpPr>
        <p:spPr>
          <a:xfrm>
            <a:off x="-4360186" y="4383092"/>
            <a:ext cx="21461916" cy="13684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1200"/>
              </a:lnSpc>
            </a:pPr>
            <a:r>
              <a:rPr lang="en-US" sz="8000" b="1">
                <a:solidFill>
                  <a:srgbClr val="0097B2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Understanding ML 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714144" y="6046783"/>
            <a:ext cx="16573856" cy="24542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900"/>
              </a:lnSpc>
              <a:spcBef>
                <a:spcPct val="0"/>
              </a:spcBef>
            </a:pPr>
            <a:r>
              <a:rPr lang="en-US" sz="3500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By using ML we make the computers learn from the data to make some predictions by which we can take any decisions easily.</a:t>
            </a:r>
          </a:p>
          <a:p>
            <a:pPr algn="l">
              <a:lnSpc>
                <a:spcPts val="4900"/>
              </a:lnSpc>
              <a:spcBef>
                <a:spcPct val="0"/>
              </a:spcBef>
            </a:pPr>
            <a:r>
              <a:rPr lang="en-US" sz="3500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Example : Predicting whether a mail is SPAM or not.</a:t>
            </a:r>
          </a:p>
          <a:p>
            <a:pPr algn="l">
              <a:lnSpc>
                <a:spcPts val="4900"/>
              </a:lnSpc>
              <a:spcBef>
                <a:spcPct val="0"/>
              </a:spcBef>
            </a:pPr>
            <a:r>
              <a:rPr lang="en-US" sz="3500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Predicting student marks based on input features.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581995" y="-338755"/>
            <a:ext cx="17124011" cy="11301847"/>
          </a:xfrm>
          <a:custGeom>
            <a:avLst/>
            <a:gdLst/>
            <a:ahLst/>
            <a:cxnLst/>
            <a:rect l="l" t="t" r="r" b="b"/>
            <a:pathLst>
              <a:path w="17124011" h="11301847">
                <a:moveTo>
                  <a:pt x="0" y="0"/>
                </a:moveTo>
                <a:lnTo>
                  <a:pt x="17124010" y="0"/>
                </a:lnTo>
                <a:lnTo>
                  <a:pt x="17124010" y="11301847"/>
                </a:lnTo>
                <a:lnTo>
                  <a:pt x="0" y="1130184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525313" y="2212658"/>
            <a:ext cx="17237375" cy="3773849"/>
          </a:xfrm>
          <a:custGeom>
            <a:avLst/>
            <a:gdLst/>
            <a:ahLst/>
            <a:cxnLst/>
            <a:rect l="l" t="t" r="r" b="b"/>
            <a:pathLst>
              <a:path w="17237375" h="3773849">
                <a:moveTo>
                  <a:pt x="0" y="0"/>
                </a:moveTo>
                <a:lnTo>
                  <a:pt x="17237374" y="0"/>
                </a:lnTo>
                <a:lnTo>
                  <a:pt x="17237374" y="3773849"/>
                </a:lnTo>
                <a:lnTo>
                  <a:pt x="0" y="377384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620" r="-620"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-1586958" y="268292"/>
            <a:ext cx="21461916" cy="13684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1200"/>
              </a:lnSpc>
            </a:pPr>
            <a:r>
              <a:rPr lang="en-US" sz="8000" b="1">
                <a:solidFill>
                  <a:srgbClr val="0097B2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How our Data Looks 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-1586958" y="268292"/>
            <a:ext cx="21461916" cy="13684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1200"/>
              </a:lnSpc>
            </a:pPr>
            <a:r>
              <a:rPr lang="en-US" sz="8000" b="1">
                <a:solidFill>
                  <a:srgbClr val="0097B2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CORRELATION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1200906" y="2025650"/>
            <a:ext cx="15886188" cy="61690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900"/>
              </a:lnSpc>
            </a:pPr>
            <a:r>
              <a:rPr lang="en-US" sz="3500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Correlation is a statistical measure used to determine the relationship between two numerical variables / features .</a:t>
            </a:r>
          </a:p>
          <a:p>
            <a:pPr algn="l">
              <a:lnSpc>
                <a:spcPts val="4900"/>
              </a:lnSpc>
            </a:pPr>
            <a:r>
              <a:rPr lang="en-US" sz="3500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It shows how the input feature is related with output feature.</a:t>
            </a:r>
          </a:p>
          <a:p>
            <a:pPr algn="l">
              <a:lnSpc>
                <a:spcPts val="4900"/>
              </a:lnSpc>
            </a:pPr>
            <a:endParaRPr lang="en-US" sz="3500" b="1">
              <a:solidFill>
                <a:srgbClr val="000000"/>
              </a:solidFill>
              <a:latin typeface="Canva Sans Bold"/>
              <a:ea typeface="Canva Sans Bold"/>
              <a:cs typeface="Canva Sans Bold"/>
              <a:sym typeface="Canva Sans Bold"/>
            </a:endParaRPr>
          </a:p>
          <a:p>
            <a:pPr algn="l">
              <a:lnSpc>
                <a:spcPts val="4900"/>
              </a:lnSpc>
            </a:pPr>
            <a:r>
              <a:rPr lang="en-US" sz="3500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+1 means Positive Correlation </a:t>
            </a:r>
          </a:p>
          <a:p>
            <a:pPr algn="l">
              <a:lnSpc>
                <a:spcPts val="4900"/>
              </a:lnSpc>
            </a:pPr>
            <a:r>
              <a:rPr lang="en-US" sz="3500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0 means NO Correlation </a:t>
            </a:r>
          </a:p>
          <a:p>
            <a:pPr algn="l">
              <a:lnSpc>
                <a:spcPts val="4900"/>
              </a:lnSpc>
            </a:pPr>
            <a:r>
              <a:rPr lang="en-US" sz="3500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-1 means Negative Correlation</a:t>
            </a:r>
          </a:p>
          <a:p>
            <a:pPr algn="l">
              <a:lnSpc>
                <a:spcPts val="4900"/>
              </a:lnSpc>
            </a:pPr>
            <a:endParaRPr lang="en-US" sz="3500" b="1">
              <a:solidFill>
                <a:srgbClr val="000000"/>
              </a:solidFill>
              <a:latin typeface="Canva Sans Bold"/>
              <a:ea typeface="Canva Sans Bold"/>
              <a:cs typeface="Canva Sans Bold"/>
              <a:sym typeface="Canva Sans Bold"/>
            </a:endParaRPr>
          </a:p>
          <a:p>
            <a:pPr algn="l">
              <a:lnSpc>
                <a:spcPts val="4900"/>
              </a:lnSpc>
              <a:spcBef>
                <a:spcPct val="0"/>
              </a:spcBef>
            </a:pPr>
            <a:r>
              <a:rPr lang="en-US" sz="3500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Main goal is to understand how much dependent is our Output Feature with respect to Input Features.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91981" y="1965968"/>
            <a:ext cx="16904038" cy="8704069"/>
            <a:chOff x="0" y="0"/>
            <a:chExt cx="22538718" cy="11605425"/>
          </a:xfrm>
        </p:grpSpPr>
        <p:sp>
          <p:nvSpPr>
            <p:cNvPr id="3" name="TextBox 3"/>
            <p:cNvSpPr txBox="1"/>
            <p:nvPr/>
          </p:nvSpPr>
          <p:spPr>
            <a:xfrm>
              <a:off x="60781" y="974255"/>
              <a:ext cx="6246473" cy="1063117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6405"/>
                </a:lnSpc>
              </a:pPr>
              <a:r>
                <a:rPr lang="en-US" sz="3500" b="1">
                  <a:solidFill>
                    <a:srgbClr val="000000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roll no</a:t>
              </a:r>
            </a:p>
            <a:p>
              <a:pPr algn="ctr">
                <a:lnSpc>
                  <a:spcPts val="6405"/>
                </a:lnSpc>
              </a:pPr>
              <a:r>
                <a:rPr lang="en-US" sz="3500" b="1">
                  <a:solidFill>
                    <a:srgbClr val="000000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student id</a:t>
              </a:r>
            </a:p>
            <a:p>
              <a:pPr algn="ctr">
                <a:lnSpc>
                  <a:spcPts val="6405"/>
                </a:lnSpc>
              </a:pPr>
              <a:r>
                <a:rPr lang="en-US" sz="3500" b="1">
                  <a:solidFill>
                    <a:srgbClr val="000000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name </a:t>
              </a:r>
            </a:p>
            <a:p>
              <a:pPr algn="ctr">
                <a:lnSpc>
                  <a:spcPts val="6405"/>
                </a:lnSpc>
              </a:pPr>
              <a:r>
                <a:rPr lang="en-US" sz="3500" b="1">
                  <a:solidFill>
                    <a:srgbClr val="000000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study hours </a:t>
              </a:r>
            </a:p>
            <a:p>
              <a:pPr algn="ctr">
                <a:lnSpc>
                  <a:spcPts val="6405"/>
                </a:lnSpc>
              </a:pPr>
              <a:r>
                <a:rPr lang="en-US" sz="3500" b="1">
                  <a:solidFill>
                    <a:srgbClr val="000000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attendance </a:t>
              </a:r>
            </a:p>
            <a:p>
              <a:pPr algn="ctr">
                <a:lnSpc>
                  <a:spcPts val="6405"/>
                </a:lnSpc>
              </a:pPr>
              <a:r>
                <a:rPr lang="en-US" sz="3500" b="1">
                  <a:solidFill>
                    <a:srgbClr val="000000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internet access </a:t>
              </a:r>
            </a:p>
            <a:p>
              <a:pPr algn="ctr">
                <a:lnSpc>
                  <a:spcPts val="6405"/>
                </a:lnSpc>
              </a:pPr>
              <a:r>
                <a:rPr lang="en-US" sz="3500" b="1">
                  <a:solidFill>
                    <a:srgbClr val="000000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play hours</a:t>
              </a:r>
            </a:p>
            <a:p>
              <a:pPr algn="ctr">
                <a:lnSpc>
                  <a:spcPts val="6405"/>
                </a:lnSpc>
              </a:pPr>
              <a:r>
                <a:rPr lang="en-US" sz="3500" b="1">
                  <a:solidFill>
                    <a:srgbClr val="000000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sleep hours </a:t>
              </a:r>
            </a:p>
            <a:p>
              <a:pPr algn="ctr">
                <a:lnSpc>
                  <a:spcPts val="6405"/>
                </a:lnSpc>
              </a:pPr>
              <a:endParaRPr lang="en-US" sz="3500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endParaRPr>
            </a:p>
            <a:p>
              <a:pPr algn="ctr">
                <a:lnSpc>
                  <a:spcPts val="6405"/>
                </a:lnSpc>
              </a:pPr>
              <a:endParaRPr lang="en-US" sz="3500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endParaRP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14676887" y="4009765"/>
              <a:ext cx="6187271" cy="209202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4656"/>
                </a:lnSpc>
                <a:spcBef>
                  <a:spcPct val="0"/>
                </a:spcBef>
              </a:pPr>
              <a:r>
                <a:rPr lang="en-US" sz="8008" b="1">
                  <a:solidFill>
                    <a:srgbClr val="000000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marks </a:t>
              </a:r>
            </a:p>
          </p:txBody>
        </p:sp>
        <p:sp>
          <p:nvSpPr>
            <p:cNvPr id="5" name="AutoShape 5"/>
            <p:cNvSpPr/>
            <p:nvPr/>
          </p:nvSpPr>
          <p:spPr>
            <a:xfrm>
              <a:off x="4948575" y="1710267"/>
              <a:ext cx="9728312" cy="3146097"/>
            </a:xfrm>
            <a:prstGeom prst="line">
              <a:avLst/>
            </a:prstGeom>
            <a:ln w="508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</p:sp>
        <p:sp>
          <p:nvSpPr>
            <p:cNvPr id="6" name="AutoShape 6"/>
            <p:cNvSpPr/>
            <p:nvPr/>
          </p:nvSpPr>
          <p:spPr>
            <a:xfrm>
              <a:off x="4954270" y="2653060"/>
              <a:ext cx="9722617" cy="2640845"/>
            </a:xfrm>
            <a:prstGeom prst="line">
              <a:avLst/>
            </a:prstGeom>
            <a:ln w="508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</p:sp>
        <p:sp>
          <p:nvSpPr>
            <p:cNvPr id="7" name="AutoShape 7"/>
            <p:cNvSpPr/>
            <p:nvPr/>
          </p:nvSpPr>
          <p:spPr>
            <a:xfrm>
              <a:off x="5320125" y="4923557"/>
              <a:ext cx="9356762" cy="1178237"/>
            </a:xfrm>
            <a:prstGeom prst="line">
              <a:avLst/>
            </a:prstGeom>
            <a:ln w="508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</p:sp>
        <p:sp>
          <p:nvSpPr>
            <p:cNvPr id="8" name="AutoShape 8"/>
            <p:cNvSpPr/>
            <p:nvPr/>
          </p:nvSpPr>
          <p:spPr>
            <a:xfrm>
              <a:off x="4670309" y="3569714"/>
              <a:ext cx="10006579" cy="2223013"/>
            </a:xfrm>
            <a:prstGeom prst="line">
              <a:avLst/>
            </a:prstGeom>
            <a:ln w="508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</p:sp>
        <p:sp>
          <p:nvSpPr>
            <p:cNvPr id="9" name="AutoShape 9"/>
            <p:cNvSpPr/>
            <p:nvPr/>
          </p:nvSpPr>
          <p:spPr>
            <a:xfrm flipV="1">
              <a:off x="4954270" y="5253704"/>
              <a:ext cx="9722617" cy="697906"/>
            </a:xfrm>
            <a:prstGeom prst="line">
              <a:avLst/>
            </a:prstGeom>
            <a:ln w="508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</p:sp>
        <p:sp>
          <p:nvSpPr>
            <p:cNvPr id="10" name="AutoShape 10"/>
            <p:cNvSpPr/>
            <p:nvPr/>
          </p:nvSpPr>
          <p:spPr>
            <a:xfrm flipV="1">
              <a:off x="4959965" y="5951610"/>
              <a:ext cx="9716922" cy="2271636"/>
            </a:xfrm>
            <a:prstGeom prst="line">
              <a:avLst/>
            </a:prstGeom>
            <a:ln w="508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</p:sp>
        <p:sp>
          <p:nvSpPr>
            <p:cNvPr id="11" name="AutoShape 11"/>
            <p:cNvSpPr/>
            <p:nvPr/>
          </p:nvSpPr>
          <p:spPr>
            <a:xfrm flipV="1">
              <a:off x="5668896" y="5568969"/>
              <a:ext cx="9007991" cy="1410629"/>
            </a:xfrm>
            <a:prstGeom prst="line">
              <a:avLst/>
            </a:prstGeom>
            <a:ln w="508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</p:sp>
        <p:sp>
          <p:nvSpPr>
            <p:cNvPr id="12" name="AutoShape 12"/>
            <p:cNvSpPr/>
            <p:nvPr/>
          </p:nvSpPr>
          <p:spPr>
            <a:xfrm flipV="1">
              <a:off x="5320966" y="6394615"/>
              <a:ext cx="9355921" cy="2762867"/>
            </a:xfrm>
            <a:prstGeom prst="line">
              <a:avLst/>
            </a:prstGeom>
            <a:ln w="508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</p:sp>
        <p:grpSp>
          <p:nvGrpSpPr>
            <p:cNvPr id="13" name="Group 13"/>
            <p:cNvGrpSpPr/>
            <p:nvPr/>
          </p:nvGrpSpPr>
          <p:grpSpPr>
            <a:xfrm>
              <a:off x="15217902" y="4411971"/>
              <a:ext cx="5105242" cy="2313997"/>
              <a:chOff x="0" y="0"/>
              <a:chExt cx="1008443" cy="457086"/>
            </a:xfrm>
          </p:grpSpPr>
          <p:sp>
            <p:nvSpPr>
              <p:cNvPr id="14" name="Freeform 14"/>
              <p:cNvSpPr/>
              <p:nvPr/>
            </p:nvSpPr>
            <p:spPr>
              <a:xfrm>
                <a:off x="0" y="0"/>
                <a:ext cx="1008443" cy="457086"/>
              </a:xfrm>
              <a:custGeom>
                <a:avLst/>
                <a:gdLst/>
                <a:ahLst/>
                <a:cxnLst/>
                <a:rect l="l" t="t" r="r" b="b"/>
                <a:pathLst>
                  <a:path w="1008443" h="457086">
                    <a:moveTo>
                      <a:pt x="0" y="0"/>
                    </a:moveTo>
                    <a:lnTo>
                      <a:pt x="1008443" y="0"/>
                    </a:lnTo>
                    <a:lnTo>
                      <a:pt x="1008443" y="457086"/>
                    </a:lnTo>
                    <a:lnTo>
                      <a:pt x="0" y="457086"/>
                    </a:ln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38100" cap="sq">
                <a:solidFill>
                  <a:srgbClr val="FF3131"/>
                </a:solidFill>
                <a:prstDash val="solid"/>
                <a:miter/>
              </a:ln>
            </p:spPr>
          </p:sp>
          <p:sp>
            <p:nvSpPr>
              <p:cNvPr id="15" name="TextBox 15"/>
              <p:cNvSpPr txBox="1"/>
              <p:nvPr/>
            </p:nvSpPr>
            <p:spPr>
              <a:xfrm>
                <a:off x="0" y="-28575"/>
                <a:ext cx="1008443" cy="485661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60"/>
                  </a:lnSpc>
                </a:pPr>
                <a:endParaRPr/>
              </a:p>
            </p:txBody>
          </p:sp>
        </p:grpSp>
        <p:sp>
          <p:nvSpPr>
            <p:cNvPr id="16" name="TextBox 16"/>
            <p:cNvSpPr txBox="1"/>
            <p:nvPr/>
          </p:nvSpPr>
          <p:spPr>
            <a:xfrm>
              <a:off x="1357134" y="-66675"/>
              <a:ext cx="21181583" cy="77364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4900"/>
                </a:lnSpc>
                <a:spcBef>
                  <a:spcPct val="0"/>
                </a:spcBef>
              </a:pPr>
              <a:r>
                <a:rPr lang="en-US" sz="3500" b="1">
                  <a:solidFill>
                    <a:srgbClr val="FF6D4D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Input Features 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5482380" y="-208703"/>
              <a:ext cx="4576286" cy="91567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6405"/>
                </a:lnSpc>
                <a:spcBef>
                  <a:spcPct val="0"/>
                </a:spcBef>
              </a:pPr>
              <a:r>
                <a:rPr lang="en-US" sz="3500" b="1">
                  <a:solidFill>
                    <a:srgbClr val="FF6D4D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Output Feature </a:t>
              </a:r>
            </a:p>
          </p:txBody>
        </p:sp>
        <p:sp>
          <p:nvSpPr>
            <p:cNvPr id="18" name="Freeform 18"/>
            <p:cNvSpPr/>
            <p:nvPr/>
          </p:nvSpPr>
          <p:spPr>
            <a:xfrm>
              <a:off x="1214580" y="1211407"/>
              <a:ext cx="809720" cy="796222"/>
            </a:xfrm>
            <a:custGeom>
              <a:avLst/>
              <a:gdLst/>
              <a:ahLst/>
              <a:cxnLst/>
              <a:rect l="l" t="t" r="r" b="b"/>
              <a:pathLst>
                <a:path w="809720" h="796222">
                  <a:moveTo>
                    <a:pt x="0" y="0"/>
                  </a:moveTo>
                  <a:lnTo>
                    <a:pt x="809720" y="0"/>
                  </a:lnTo>
                  <a:lnTo>
                    <a:pt x="809720" y="796222"/>
                  </a:lnTo>
                  <a:lnTo>
                    <a:pt x="0" y="79622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74132" t="-135701" r="-66719" b="-131931"/>
              </a:stretch>
            </a:blipFill>
          </p:spPr>
        </p:sp>
        <p:sp>
          <p:nvSpPr>
            <p:cNvPr id="19" name="Freeform 19"/>
            <p:cNvSpPr/>
            <p:nvPr/>
          </p:nvSpPr>
          <p:spPr>
            <a:xfrm>
              <a:off x="1409346" y="3210251"/>
              <a:ext cx="809720" cy="796222"/>
            </a:xfrm>
            <a:custGeom>
              <a:avLst/>
              <a:gdLst/>
              <a:ahLst/>
              <a:cxnLst/>
              <a:rect l="l" t="t" r="r" b="b"/>
              <a:pathLst>
                <a:path w="809720" h="796222">
                  <a:moveTo>
                    <a:pt x="0" y="0"/>
                  </a:moveTo>
                  <a:lnTo>
                    <a:pt x="809721" y="0"/>
                  </a:lnTo>
                  <a:lnTo>
                    <a:pt x="809721" y="796223"/>
                  </a:lnTo>
                  <a:lnTo>
                    <a:pt x="0" y="79622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74132" t="-135701" r="-66719" b="-131931"/>
              </a:stretch>
            </a:blipFill>
          </p:spPr>
        </p:sp>
        <p:sp>
          <p:nvSpPr>
            <p:cNvPr id="20" name="Freeform 20"/>
            <p:cNvSpPr/>
            <p:nvPr/>
          </p:nvSpPr>
          <p:spPr>
            <a:xfrm>
              <a:off x="809720" y="2210829"/>
              <a:ext cx="809720" cy="796222"/>
            </a:xfrm>
            <a:custGeom>
              <a:avLst/>
              <a:gdLst/>
              <a:ahLst/>
              <a:cxnLst/>
              <a:rect l="l" t="t" r="r" b="b"/>
              <a:pathLst>
                <a:path w="809720" h="796222">
                  <a:moveTo>
                    <a:pt x="0" y="0"/>
                  </a:moveTo>
                  <a:lnTo>
                    <a:pt x="809720" y="0"/>
                  </a:lnTo>
                  <a:lnTo>
                    <a:pt x="809720" y="796222"/>
                  </a:lnTo>
                  <a:lnTo>
                    <a:pt x="0" y="79622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74132" t="-135701" r="-66719" b="-131931"/>
              </a:stretch>
            </a:blipFill>
          </p:spPr>
        </p:sp>
        <p:sp>
          <p:nvSpPr>
            <p:cNvPr id="21" name="Freeform 21"/>
            <p:cNvSpPr/>
            <p:nvPr/>
          </p:nvSpPr>
          <p:spPr>
            <a:xfrm rot="-10800000">
              <a:off x="404860" y="4326749"/>
              <a:ext cx="809720" cy="796222"/>
            </a:xfrm>
            <a:custGeom>
              <a:avLst/>
              <a:gdLst/>
              <a:ahLst/>
              <a:cxnLst/>
              <a:rect l="l" t="t" r="r" b="b"/>
              <a:pathLst>
                <a:path w="809720" h="796222">
                  <a:moveTo>
                    <a:pt x="0" y="0"/>
                  </a:moveTo>
                  <a:lnTo>
                    <a:pt x="809720" y="0"/>
                  </a:lnTo>
                  <a:lnTo>
                    <a:pt x="809720" y="796223"/>
                  </a:lnTo>
                  <a:lnTo>
                    <a:pt x="0" y="79622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74132" t="-135701" r="-66719" b="-131931"/>
              </a:stretch>
            </a:blipFill>
          </p:spPr>
        </p:sp>
        <p:sp>
          <p:nvSpPr>
            <p:cNvPr id="22" name="Freeform 22"/>
            <p:cNvSpPr/>
            <p:nvPr/>
          </p:nvSpPr>
          <p:spPr>
            <a:xfrm rot="-10800000">
              <a:off x="599626" y="5404601"/>
              <a:ext cx="809720" cy="796222"/>
            </a:xfrm>
            <a:custGeom>
              <a:avLst/>
              <a:gdLst/>
              <a:ahLst/>
              <a:cxnLst/>
              <a:rect l="l" t="t" r="r" b="b"/>
              <a:pathLst>
                <a:path w="809720" h="796222">
                  <a:moveTo>
                    <a:pt x="0" y="0"/>
                  </a:moveTo>
                  <a:lnTo>
                    <a:pt x="809720" y="0"/>
                  </a:lnTo>
                  <a:lnTo>
                    <a:pt x="809720" y="796223"/>
                  </a:lnTo>
                  <a:lnTo>
                    <a:pt x="0" y="79622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74132" t="-135701" r="-66719" b="-131931"/>
              </a:stretch>
            </a:blipFill>
          </p:spPr>
        </p:sp>
        <p:sp>
          <p:nvSpPr>
            <p:cNvPr id="23" name="Freeform 23"/>
            <p:cNvSpPr/>
            <p:nvPr/>
          </p:nvSpPr>
          <p:spPr>
            <a:xfrm rot="-10800000">
              <a:off x="0" y="6544619"/>
              <a:ext cx="809720" cy="796222"/>
            </a:xfrm>
            <a:custGeom>
              <a:avLst/>
              <a:gdLst/>
              <a:ahLst/>
              <a:cxnLst/>
              <a:rect l="l" t="t" r="r" b="b"/>
              <a:pathLst>
                <a:path w="809720" h="796222">
                  <a:moveTo>
                    <a:pt x="0" y="0"/>
                  </a:moveTo>
                  <a:lnTo>
                    <a:pt x="809720" y="0"/>
                  </a:lnTo>
                  <a:lnTo>
                    <a:pt x="809720" y="796222"/>
                  </a:lnTo>
                  <a:lnTo>
                    <a:pt x="0" y="79622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74132" t="-135701" r="-66719" b="-131931"/>
              </a:stretch>
            </a:blipFill>
          </p:spPr>
        </p:sp>
        <p:sp>
          <p:nvSpPr>
            <p:cNvPr id="24" name="Freeform 24"/>
            <p:cNvSpPr/>
            <p:nvPr/>
          </p:nvSpPr>
          <p:spPr>
            <a:xfrm rot="-10800000">
              <a:off x="599626" y="7607541"/>
              <a:ext cx="809720" cy="796222"/>
            </a:xfrm>
            <a:custGeom>
              <a:avLst/>
              <a:gdLst/>
              <a:ahLst/>
              <a:cxnLst/>
              <a:rect l="l" t="t" r="r" b="b"/>
              <a:pathLst>
                <a:path w="809720" h="796222">
                  <a:moveTo>
                    <a:pt x="0" y="0"/>
                  </a:moveTo>
                  <a:lnTo>
                    <a:pt x="809720" y="0"/>
                  </a:lnTo>
                  <a:lnTo>
                    <a:pt x="809720" y="796222"/>
                  </a:lnTo>
                  <a:lnTo>
                    <a:pt x="0" y="79622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74132" t="-135701" r="-66719" b="-131931"/>
              </a:stretch>
            </a:blipFill>
          </p:spPr>
        </p:sp>
        <p:sp>
          <p:nvSpPr>
            <p:cNvPr id="25" name="Freeform 25"/>
            <p:cNvSpPr/>
            <p:nvPr/>
          </p:nvSpPr>
          <p:spPr>
            <a:xfrm rot="-10800000">
              <a:off x="599626" y="8666272"/>
              <a:ext cx="809720" cy="796222"/>
            </a:xfrm>
            <a:custGeom>
              <a:avLst/>
              <a:gdLst/>
              <a:ahLst/>
              <a:cxnLst/>
              <a:rect l="l" t="t" r="r" b="b"/>
              <a:pathLst>
                <a:path w="809720" h="796222">
                  <a:moveTo>
                    <a:pt x="0" y="0"/>
                  </a:moveTo>
                  <a:lnTo>
                    <a:pt x="809720" y="0"/>
                  </a:lnTo>
                  <a:lnTo>
                    <a:pt x="809720" y="796222"/>
                  </a:lnTo>
                  <a:lnTo>
                    <a:pt x="0" y="79622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74132" t="-135701" r="-66719" b="-131931"/>
              </a:stretch>
            </a:blipFill>
          </p:spPr>
        </p:sp>
      </p:grpSp>
      <p:sp>
        <p:nvSpPr>
          <p:cNvPr id="26" name="TextBox 26"/>
          <p:cNvSpPr txBox="1"/>
          <p:nvPr/>
        </p:nvSpPr>
        <p:spPr>
          <a:xfrm>
            <a:off x="-1969628" y="268292"/>
            <a:ext cx="21461916" cy="13684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1200"/>
              </a:lnSpc>
            </a:pPr>
            <a:r>
              <a:rPr lang="en-US" sz="8000" b="1">
                <a:solidFill>
                  <a:srgbClr val="0097B2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How correlated is our I/P with O/P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521375" y="4076589"/>
            <a:ext cx="17417455" cy="4299571"/>
            <a:chOff x="0" y="0"/>
            <a:chExt cx="23223274" cy="5732761"/>
          </a:xfrm>
        </p:grpSpPr>
        <p:sp>
          <p:nvSpPr>
            <p:cNvPr id="3" name="Freeform 3"/>
            <p:cNvSpPr/>
            <p:nvPr/>
          </p:nvSpPr>
          <p:spPr>
            <a:xfrm>
              <a:off x="240107" y="700962"/>
              <a:ext cx="22983167" cy="5031799"/>
            </a:xfrm>
            <a:custGeom>
              <a:avLst/>
              <a:gdLst/>
              <a:ahLst/>
              <a:cxnLst/>
              <a:rect l="l" t="t" r="r" b="b"/>
              <a:pathLst>
                <a:path w="22983167" h="5031799">
                  <a:moveTo>
                    <a:pt x="0" y="0"/>
                  </a:moveTo>
                  <a:lnTo>
                    <a:pt x="22983167" y="0"/>
                  </a:lnTo>
                  <a:lnTo>
                    <a:pt x="22983167" y="5031799"/>
                  </a:lnTo>
                  <a:lnTo>
                    <a:pt x="0" y="503179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620" r="-620"/>
              </a:stretch>
            </a:blipFill>
          </p:spPr>
        </p:sp>
        <p:grpSp>
          <p:nvGrpSpPr>
            <p:cNvPr id="4" name="Group 4"/>
            <p:cNvGrpSpPr/>
            <p:nvPr/>
          </p:nvGrpSpPr>
          <p:grpSpPr>
            <a:xfrm>
              <a:off x="0" y="700962"/>
              <a:ext cx="5405376" cy="1056967"/>
              <a:chOff x="0" y="0"/>
              <a:chExt cx="1067729" cy="208784"/>
            </a:xfrm>
          </p:grpSpPr>
          <p:sp>
            <p:nvSpPr>
              <p:cNvPr id="5" name="Freeform 5"/>
              <p:cNvSpPr/>
              <p:nvPr/>
            </p:nvSpPr>
            <p:spPr>
              <a:xfrm>
                <a:off x="0" y="0"/>
                <a:ext cx="1067729" cy="208784"/>
              </a:xfrm>
              <a:custGeom>
                <a:avLst/>
                <a:gdLst/>
                <a:ahLst/>
                <a:cxnLst/>
                <a:rect l="l" t="t" r="r" b="b"/>
                <a:pathLst>
                  <a:path w="1067729" h="208784">
                    <a:moveTo>
                      <a:pt x="0" y="0"/>
                    </a:moveTo>
                    <a:lnTo>
                      <a:pt x="1067729" y="0"/>
                    </a:lnTo>
                    <a:lnTo>
                      <a:pt x="1067729" y="208784"/>
                    </a:lnTo>
                    <a:lnTo>
                      <a:pt x="0" y="208784"/>
                    </a:ln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38100" cap="sq">
                <a:solidFill>
                  <a:srgbClr val="FF3131"/>
                </a:solidFill>
                <a:prstDash val="solid"/>
                <a:miter/>
              </a:ln>
            </p:spPr>
          </p:sp>
          <p:sp>
            <p:nvSpPr>
              <p:cNvPr id="6" name="TextBox 6"/>
              <p:cNvSpPr txBox="1"/>
              <p:nvPr/>
            </p:nvSpPr>
            <p:spPr>
              <a:xfrm>
                <a:off x="0" y="-28575"/>
                <a:ext cx="1067729" cy="23735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60"/>
                  </a:lnSpc>
                </a:pPr>
                <a:endParaRPr/>
              </a:p>
            </p:txBody>
          </p:sp>
        </p:grpSp>
        <p:sp>
          <p:nvSpPr>
            <p:cNvPr id="7" name="TextBox 7"/>
            <p:cNvSpPr txBox="1"/>
            <p:nvPr/>
          </p:nvSpPr>
          <p:spPr>
            <a:xfrm>
              <a:off x="737958" y="-38100"/>
              <a:ext cx="3929459" cy="49201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46"/>
                </a:lnSpc>
                <a:spcBef>
                  <a:spcPct val="0"/>
                </a:spcBef>
              </a:pPr>
              <a:r>
                <a:rPr lang="en-US" sz="2247" b="1">
                  <a:solidFill>
                    <a:srgbClr val="000000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Unecessary columns </a:t>
              </a:r>
            </a:p>
          </p:txBody>
        </p:sp>
        <p:grpSp>
          <p:nvGrpSpPr>
            <p:cNvPr id="8" name="Group 8"/>
            <p:cNvGrpSpPr/>
            <p:nvPr/>
          </p:nvGrpSpPr>
          <p:grpSpPr>
            <a:xfrm>
              <a:off x="21828803" y="748954"/>
              <a:ext cx="1394471" cy="4983807"/>
              <a:chOff x="0" y="0"/>
              <a:chExt cx="275451" cy="984456"/>
            </a:xfrm>
          </p:grpSpPr>
          <p:sp>
            <p:nvSpPr>
              <p:cNvPr id="9" name="Freeform 9"/>
              <p:cNvSpPr/>
              <p:nvPr/>
            </p:nvSpPr>
            <p:spPr>
              <a:xfrm>
                <a:off x="0" y="0"/>
                <a:ext cx="275451" cy="984456"/>
              </a:xfrm>
              <a:custGeom>
                <a:avLst/>
                <a:gdLst/>
                <a:ahLst/>
                <a:cxnLst/>
                <a:rect l="l" t="t" r="r" b="b"/>
                <a:pathLst>
                  <a:path w="275451" h="984456">
                    <a:moveTo>
                      <a:pt x="0" y="0"/>
                    </a:moveTo>
                    <a:lnTo>
                      <a:pt x="275451" y="0"/>
                    </a:lnTo>
                    <a:lnTo>
                      <a:pt x="275451" y="984456"/>
                    </a:lnTo>
                    <a:lnTo>
                      <a:pt x="0" y="984456"/>
                    </a:ln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38100" cap="sq">
                <a:solidFill>
                  <a:srgbClr val="00B052"/>
                </a:solidFill>
                <a:prstDash val="solid"/>
                <a:miter/>
              </a:ln>
            </p:spPr>
          </p:sp>
          <p:sp>
            <p:nvSpPr>
              <p:cNvPr id="10" name="TextBox 10"/>
              <p:cNvSpPr txBox="1"/>
              <p:nvPr/>
            </p:nvSpPr>
            <p:spPr>
              <a:xfrm>
                <a:off x="0" y="-28575"/>
                <a:ext cx="275451" cy="1013031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60"/>
                  </a:lnSpc>
                </a:pPr>
                <a:endParaRPr/>
              </a:p>
            </p:txBody>
          </p:sp>
        </p:grpSp>
      </p:grpSp>
      <p:grpSp>
        <p:nvGrpSpPr>
          <p:cNvPr id="11" name="Group 11"/>
          <p:cNvGrpSpPr/>
          <p:nvPr/>
        </p:nvGrpSpPr>
        <p:grpSpPr>
          <a:xfrm>
            <a:off x="697811" y="8871742"/>
            <a:ext cx="11459835" cy="1262787"/>
            <a:chOff x="0" y="0"/>
            <a:chExt cx="3018228" cy="332586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3018228" cy="332586"/>
            </a:xfrm>
            <a:custGeom>
              <a:avLst/>
              <a:gdLst/>
              <a:ahLst/>
              <a:cxnLst/>
              <a:rect l="l" t="t" r="r" b="b"/>
              <a:pathLst>
                <a:path w="3018228" h="332586">
                  <a:moveTo>
                    <a:pt x="0" y="0"/>
                  </a:moveTo>
                  <a:lnTo>
                    <a:pt x="3018228" y="0"/>
                  </a:lnTo>
                  <a:lnTo>
                    <a:pt x="3018228" y="332586"/>
                  </a:lnTo>
                  <a:lnTo>
                    <a:pt x="0" y="332586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0" y="-28575"/>
              <a:ext cx="3018228" cy="36116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60"/>
                </a:lnSpc>
              </a:pPr>
              <a:endParaRPr/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-1586958" y="268292"/>
            <a:ext cx="21461916" cy="13684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1200"/>
              </a:lnSpc>
            </a:pPr>
            <a:r>
              <a:rPr lang="en-US" sz="8000" b="1">
                <a:solidFill>
                  <a:srgbClr val="0097B2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Feature Selection 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200906" y="1839679"/>
            <a:ext cx="16058394" cy="18351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900"/>
              </a:lnSpc>
            </a:pPr>
            <a:r>
              <a:rPr lang="en-US" sz="3500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Feature Selection is a process in which we keep only important features (highly correlated) and remove unnecessary features.</a:t>
            </a:r>
          </a:p>
          <a:p>
            <a:pPr algn="l">
              <a:lnSpc>
                <a:spcPts val="4900"/>
              </a:lnSpc>
              <a:spcBef>
                <a:spcPct val="0"/>
              </a:spcBef>
            </a:pPr>
            <a:r>
              <a:rPr lang="en-US" sz="3500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It helps in training our model efficiently and removes noise from our data.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871130" y="9012968"/>
            <a:ext cx="12177547" cy="9231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715"/>
              </a:lnSpc>
              <a:spcBef>
                <a:spcPct val="0"/>
              </a:spcBef>
            </a:pPr>
            <a:r>
              <a:rPr lang="en-US" sz="2654" b="1">
                <a:solidFill>
                  <a:srgbClr val="FF6D4D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rollno , student_id and name have very less/No correlation with our output feature marks so we are dropping these features.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822099" y="4377824"/>
            <a:ext cx="16643802" cy="4909922"/>
          </a:xfrm>
          <a:custGeom>
            <a:avLst/>
            <a:gdLst/>
            <a:ahLst/>
            <a:cxnLst/>
            <a:rect l="l" t="t" r="r" b="b"/>
            <a:pathLst>
              <a:path w="16643802" h="4909922">
                <a:moveTo>
                  <a:pt x="0" y="0"/>
                </a:moveTo>
                <a:lnTo>
                  <a:pt x="16643802" y="0"/>
                </a:lnTo>
                <a:lnTo>
                  <a:pt x="16643802" y="4909922"/>
                </a:lnTo>
                <a:lnTo>
                  <a:pt x="0" y="490992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822099" y="4377824"/>
            <a:ext cx="15354071" cy="924278"/>
            <a:chOff x="0" y="0"/>
            <a:chExt cx="4043871" cy="243431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4043871" cy="243431"/>
            </a:xfrm>
            <a:custGeom>
              <a:avLst/>
              <a:gdLst/>
              <a:ahLst/>
              <a:cxnLst/>
              <a:rect l="l" t="t" r="r" b="b"/>
              <a:pathLst>
                <a:path w="4043871" h="243431">
                  <a:moveTo>
                    <a:pt x="0" y="0"/>
                  </a:moveTo>
                  <a:lnTo>
                    <a:pt x="4043871" y="0"/>
                  </a:lnTo>
                  <a:lnTo>
                    <a:pt x="4043871" y="243431"/>
                  </a:lnTo>
                  <a:lnTo>
                    <a:pt x="0" y="243431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00B052"/>
              </a:solidFill>
              <a:prstDash val="solid"/>
              <a:miter/>
            </a:ln>
          </p:spPr>
        </p:sp>
        <p:sp>
          <p:nvSpPr>
            <p:cNvPr id="5" name="TextBox 5"/>
            <p:cNvSpPr txBox="1"/>
            <p:nvPr/>
          </p:nvSpPr>
          <p:spPr>
            <a:xfrm>
              <a:off x="0" y="-28575"/>
              <a:ext cx="4043871" cy="27200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60"/>
                </a:lnSpc>
              </a:pPr>
              <a:endParaRPr/>
            </a:p>
          </p:txBody>
        </p:sp>
      </p:grpSp>
      <p:sp>
        <p:nvSpPr>
          <p:cNvPr id="6" name="TextBox 6"/>
          <p:cNvSpPr txBox="1"/>
          <p:nvPr/>
        </p:nvSpPr>
        <p:spPr>
          <a:xfrm>
            <a:off x="-1748539" y="525132"/>
            <a:ext cx="21461916" cy="13684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1200"/>
              </a:lnSpc>
            </a:pPr>
            <a:r>
              <a:rPr lang="en-US" sz="8000" b="1">
                <a:solidFill>
                  <a:srgbClr val="0097B2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Final Data For Training 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4059681" y="2007848"/>
            <a:ext cx="16058394" cy="596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900"/>
              </a:lnSpc>
              <a:spcBef>
                <a:spcPct val="0"/>
              </a:spcBef>
            </a:pPr>
            <a:r>
              <a:rPr lang="en-US" sz="3500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Dividing data into input and output features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789630" y="2823332"/>
            <a:ext cx="3270052" cy="7391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405"/>
              </a:lnSpc>
              <a:spcBef>
                <a:spcPct val="0"/>
              </a:spcBef>
            </a:pPr>
            <a:r>
              <a:rPr lang="en-US" sz="3500" b="1">
                <a:solidFill>
                  <a:srgbClr val="FF6D4D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Input Features 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3749305" y="2840968"/>
            <a:ext cx="3537109" cy="7391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405"/>
              </a:lnSpc>
              <a:spcBef>
                <a:spcPct val="0"/>
              </a:spcBef>
            </a:pPr>
            <a:r>
              <a:rPr lang="en-US" sz="3500" b="1">
                <a:solidFill>
                  <a:srgbClr val="FF6D4D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Output  Feature </a:t>
            </a:r>
          </a:p>
        </p:txBody>
      </p:sp>
      <p:grpSp>
        <p:nvGrpSpPr>
          <p:cNvPr id="10" name="Group 10"/>
          <p:cNvGrpSpPr/>
          <p:nvPr/>
        </p:nvGrpSpPr>
        <p:grpSpPr>
          <a:xfrm>
            <a:off x="16348856" y="4377824"/>
            <a:ext cx="1117045" cy="924278"/>
            <a:chOff x="0" y="0"/>
            <a:chExt cx="294201" cy="243431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294201" cy="243431"/>
            </a:xfrm>
            <a:custGeom>
              <a:avLst/>
              <a:gdLst/>
              <a:ahLst/>
              <a:cxnLst/>
              <a:rect l="l" t="t" r="r" b="b"/>
              <a:pathLst>
                <a:path w="294201" h="243431">
                  <a:moveTo>
                    <a:pt x="0" y="0"/>
                  </a:moveTo>
                  <a:lnTo>
                    <a:pt x="294201" y="0"/>
                  </a:lnTo>
                  <a:lnTo>
                    <a:pt x="294201" y="243431"/>
                  </a:lnTo>
                  <a:lnTo>
                    <a:pt x="0" y="243431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FF3131"/>
              </a:solidFill>
              <a:prstDash val="solid"/>
              <a:miter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0" y="-28575"/>
              <a:ext cx="294201" cy="27200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60"/>
                </a:lnSpc>
              </a:pPr>
              <a:endParaRPr/>
            </a:p>
          </p:txBody>
        </p:sp>
      </p:grpSp>
      <p:sp>
        <p:nvSpPr>
          <p:cNvPr id="13" name="AutoShape 13"/>
          <p:cNvSpPr/>
          <p:nvPr/>
        </p:nvSpPr>
        <p:spPr>
          <a:xfrm>
            <a:off x="1665993" y="3543422"/>
            <a:ext cx="1472501" cy="63181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triangle" w="lg" len="med"/>
          </a:ln>
        </p:spPr>
      </p:sp>
      <p:sp>
        <p:nvSpPr>
          <p:cNvPr id="14" name="AutoShape 14"/>
          <p:cNvSpPr/>
          <p:nvPr/>
        </p:nvSpPr>
        <p:spPr>
          <a:xfrm>
            <a:off x="14875955" y="3580108"/>
            <a:ext cx="1743475" cy="59512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triangle" w="lg" len="med"/>
          </a:ln>
        </p:spPr>
      </p:sp>
      <p:sp>
        <p:nvSpPr>
          <p:cNvPr id="15" name="TextBox 15"/>
          <p:cNvSpPr txBox="1"/>
          <p:nvPr/>
        </p:nvSpPr>
        <p:spPr>
          <a:xfrm>
            <a:off x="3973956" y="2840968"/>
            <a:ext cx="603647" cy="7391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405"/>
              </a:lnSpc>
              <a:spcBef>
                <a:spcPct val="0"/>
              </a:spcBef>
            </a:pPr>
            <a:r>
              <a:rPr lang="en-US" sz="3500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(X)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7179615" y="2840968"/>
            <a:ext cx="572572" cy="7391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405"/>
              </a:lnSpc>
              <a:spcBef>
                <a:spcPct val="0"/>
              </a:spcBef>
            </a:pPr>
            <a:r>
              <a:rPr lang="en-US" sz="3500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(y)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-1969628" y="718018"/>
            <a:ext cx="21461916" cy="13684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1200"/>
              </a:lnSpc>
            </a:pPr>
            <a:r>
              <a:rPr lang="en-US" sz="8000" b="1">
                <a:solidFill>
                  <a:srgbClr val="0097B2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Training Data 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-2363554" y="3443557"/>
            <a:ext cx="21461916" cy="13684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1200"/>
              </a:lnSpc>
            </a:pPr>
            <a:r>
              <a:rPr lang="en-US" sz="8000" b="1">
                <a:solidFill>
                  <a:srgbClr val="0097B2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Test Data 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3794054" y="2019760"/>
            <a:ext cx="16058394" cy="12160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900"/>
              </a:lnSpc>
            </a:pPr>
            <a:r>
              <a:rPr lang="en-US" sz="3500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Training Data is useful for training our model.</a:t>
            </a:r>
          </a:p>
          <a:p>
            <a:pPr algn="l">
              <a:lnSpc>
                <a:spcPts val="4900"/>
              </a:lnSpc>
              <a:spcBef>
                <a:spcPct val="0"/>
              </a:spcBef>
            </a:pPr>
            <a:endParaRPr lang="en-US" sz="3500" b="1">
              <a:solidFill>
                <a:srgbClr val="000000"/>
              </a:solidFill>
              <a:latin typeface="Canva Sans Bold"/>
              <a:ea typeface="Canva Sans Bold"/>
              <a:cs typeface="Canva Sans Bold"/>
              <a:sym typeface="Canva Sans Bold"/>
            </a:endParaRPr>
          </a:p>
        </p:txBody>
      </p:sp>
      <p:sp>
        <p:nvSpPr>
          <p:cNvPr id="5" name="TextBox 5"/>
          <p:cNvSpPr txBox="1"/>
          <p:nvPr/>
        </p:nvSpPr>
        <p:spPr>
          <a:xfrm>
            <a:off x="893640" y="4745299"/>
            <a:ext cx="16058394" cy="24542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900"/>
              </a:lnSpc>
            </a:pPr>
            <a:r>
              <a:rPr lang="en-US" sz="3500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Test Data is used to test the performance of our model , to check how good our model is trained on the training data , that helps in finding the accuracy of our model.</a:t>
            </a:r>
          </a:p>
          <a:p>
            <a:pPr algn="ctr">
              <a:lnSpc>
                <a:spcPts val="4900"/>
              </a:lnSpc>
              <a:spcBef>
                <a:spcPct val="0"/>
              </a:spcBef>
            </a:pPr>
            <a:endParaRPr lang="en-US" sz="3500" b="1">
              <a:solidFill>
                <a:srgbClr val="000000"/>
              </a:solidFill>
              <a:latin typeface="Canva Sans Bold"/>
              <a:ea typeface="Canva Sans Bold"/>
              <a:cs typeface="Canva Sans Bold"/>
              <a:sym typeface="Canva Sans Bold"/>
            </a:endParaRPr>
          </a:p>
        </p:txBody>
      </p:sp>
      <p:sp>
        <p:nvSpPr>
          <p:cNvPr id="6" name="TextBox 6"/>
          <p:cNvSpPr txBox="1"/>
          <p:nvPr/>
        </p:nvSpPr>
        <p:spPr>
          <a:xfrm>
            <a:off x="1114803" y="7866063"/>
            <a:ext cx="16058394" cy="596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900"/>
              </a:lnSpc>
              <a:spcBef>
                <a:spcPct val="0"/>
              </a:spcBef>
            </a:pPr>
            <a:r>
              <a:rPr lang="en-US" sz="3500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No. of rows in our dataset : </a:t>
            </a:r>
            <a:r>
              <a:rPr lang="en-US" sz="3500" b="1">
                <a:solidFill>
                  <a:srgbClr val="FF313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1000</a:t>
            </a:r>
            <a:r>
              <a:rPr lang="en-US" sz="3500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 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114803" y="8396288"/>
            <a:ext cx="16058394" cy="596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900"/>
              </a:lnSpc>
              <a:spcBef>
                <a:spcPct val="0"/>
              </a:spcBef>
            </a:pPr>
            <a:r>
              <a:rPr lang="en-US" sz="3500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Training dataset : </a:t>
            </a:r>
            <a:r>
              <a:rPr lang="en-US" sz="3500" b="1">
                <a:solidFill>
                  <a:srgbClr val="FF313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800 </a:t>
            </a:r>
            <a:r>
              <a:rPr lang="en-US" sz="3500" b="1">
                <a:solidFill>
                  <a:srgbClr val="00B052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(80%)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114803" y="8926513"/>
            <a:ext cx="16058394" cy="596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900"/>
              </a:lnSpc>
              <a:spcBef>
                <a:spcPct val="0"/>
              </a:spcBef>
            </a:pPr>
            <a:r>
              <a:rPr lang="en-US" sz="3500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Test dataset : </a:t>
            </a:r>
            <a:r>
              <a:rPr lang="en-US" sz="3500" b="1">
                <a:solidFill>
                  <a:srgbClr val="FF313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200 </a:t>
            </a:r>
            <a:r>
              <a:rPr lang="en-US" sz="3500" b="1">
                <a:solidFill>
                  <a:srgbClr val="00B052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(20%)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416610" y="1902839"/>
            <a:ext cx="16640099" cy="7760642"/>
            <a:chOff x="0" y="0"/>
            <a:chExt cx="22186799" cy="10347523"/>
          </a:xfrm>
        </p:grpSpPr>
        <p:sp>
          <p:nvSpPr>
            <p:cNvPr id="3" name="Freeform 3"/>
            <p:cNvSpPr/>
            <p:nvPr/>
          </p:nvSpPr>
          <p:spPr>
            <a:xfrm>
              <a:off x="2287901" y="0"/>
              <a:ext cx="19898898" cy="10347523"/>
            </a:xfrm>
            <a:custGeom>
              <a:avLst/>
              <a:gdLst/>
              <a:ahLst/>
              <a:cxnLst/>
              <a:rect l="l" t="t" r="r" b="b"/>
              <a:pathLst>
                <a:path w="19898898" h="10347523">
                  <a:moveTo>
                    <a:pt x="0" y="0"/>
                  </a:moveTo>
                  <a:lnTo>
                    <a:pt x="19898898" y="0"/>
                  </a:lnTo>
                  <a:lnTo>
                    <a:pt x="19898898" y="10347523"/>
                  </a:lnTo>
                  <a:lnTo>
                    <a:pt x="0" y="1034752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608" r="-608"/>
              </a:stretch>
            </a:blipFill>
          </p:spPr>
        </p:sp>
        <p:grpSp>
          <p:nvGrpSpPr>
            <p:cNvPr id="4" name="Group 4"/>
            <p:cNvGrpSpPr/>
            <p:nvPr/>
          </p:nvGrpSpPr>
          <p:grpSpPr>
            <a:xfrm>
              <a:off x="2287901" y="1088975"/>
              <a:ext cx="19692106" cy="7146152"/>
              <a:chOff x="0" y="0"/>
              <a:chExt cx="3889799" cy="1411586"/>
            </a:xfrm>
          </p:grpSpPr>
          <p:sp>
            <p:nvSpPr>
              <p:cNvPr id="5" name="Freeform 5"/>
              <p:cNvSpPr/>
              <p:nvPr/>
            </p:nvSpPr>
            <p:spPr>
              <a:xfrm>
                <a:off x="0" y="0"/>
                <a:ext cx="3889799" cy="1411586"/>
              </a:xfrm>
              <a:custGeom>
                <a:avLst/>
                <a:gdLst/>
                <a:ahLst/>
                <a:cxnLst/>
                <a:rect l="l" t="t" r="r" b="b"/>
                <a:pathLst>
                  <a:path w="3889799" h="1411586">
                    <a:moveTo>
                      <a:pt x="0" y="0"/>
                    </a:moveTo>
                    <a:lnTo>
                      <a:pt x="3889799" y="0"/>
                    </a:lnTo>
                    <a:lnTo>
                      <a:pt x="3889799" y="1411586"/>
                    </a:lnTo>
                    <a:lnTo>
                      <a:pt x="0" y="1411586"/>
                    </a:ln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38100" cap="sq">
                <a:solidFill>
                  <a:srgbClr val="00B052"/>
                </a:solidFill>
                <a:prstDash val="solid"/>
                <a:miter/>
              </a:ln>
            </p:spPr>
          </p:sp>
          <p:sp>
            <p:nvSpPr>
              <p:cNvPr id="6" name="TextBox 6"/>
              <p:cNvSpPr txBox="1"/>
              <p:nvPr/>
            </p:nvSpPr>
            <p:spPr>
              <a:xfrm>
                <a:off x="0" y="-28575"/>
                <a:ext cx="3889799" cy="1440161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60"/>
                  </a:lnSpc>
                </a:pPr>
                <a:endParaRPr/>
              </a:p>
            </p:txBody>
          </p:sp>
        </p:grpSp>
        <p:grpSp>
          <p:nvGrpSpPr>
            <p:cNvPr id="7" name="Group 7"/>
            <p:cNvGrpSpPr/>
            <p:nvPr/>
          </p:nvGrpSpPr>
          <p:grpSpPr>
            <a:xfrm>
              <a:off x="2287901" y="8393687"/>
              <a:ext cx="19692106" cy="1953836"/>
              <a:chOff x="0" y="0"/>
              <a:chExt cx="3889799" cy="385943"/>
            </a:xfrm>
          </p:grpSpPr>
          <p:sp>
            <p:nvSpPr>
              <p:cNvPr id="8" name="Freeform 8"/>
              <p:cNvSpPr/>
              <p:nvPr/>
            </p:nvSpPr>
            <p:spPr>
              <a:xfrm>
                <a:off x="0" y="0"/>
                <a:ext cx="3889799" cy="385943"/>
              </a:xfrm>
              <a:custGeom>
                <a:avLst/>
                <a:gdLst/>
                <a:ahLst/>
                <a:cxnLst/>
                <a:rect l="l" t="t" r="r" b="b"/>
                <a:pathLst>
                  <a:path w="3889799" h="385943">
                    <a:moveTo>
                      <a:pt x="0" y="0"/>
                    </a:moveTo>
                    <a:lnTo>
                      <a:pt x="3889799" y="0"/>
                    </a:lnTo>
                    <a:lnTo>
                      <a:pt x="3889799" y="385943"/>
                    </a:lnTo>
                    <a:lnTo>
                      <a:pt x="0" y="385943"/>
                    </a:ln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38100" cap="sq">
                <a:solidFill>
                  <a:srgbClr val="FF6D4D"/>
                </a:solidFill>
                <a:prstDash val="solid"/>
                <a:miter/>
              </a:ln>
            </p:spPr>
          </p:sp>
          <p:sp>
            <p:nvSpPr>
              <p:cNvPr id="9" name="TextBox 9"/>
              <p:cNvSpPr txBox="1"/>
              <p:nvPr/>
            </p:nvSpPr>
            <p:spPr>
              <a:xfrm>
                <a:off x="0" y="-28575"/>
                <a:ext cx="3889799" cy="414518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60"/>
                  </a:lnSpc>
                </a:pPr>
                <a:endParaRPr/>
              </a:p>
            </p:txBody>
          </p:sp>
        </p:grpSp>
        <p:sp>
          <p:nvSpPr>
            <p:cNvPr id="10" name="TextBox 10"/>
            <p:cNvSpPr txBox="1"/>
            <p:nvPr/>
          </p:nvSpPr>
          <p:spPr>
            <a:xfrm>
              <a:off x="0" y="3545616"/>
              <a:ext cx="2033594" cy="106303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097"/>
                </a:lnSpc>
              </a:pPr>
              <a:r>
                <a:rPr lang="en-US" sz="2921" b="1">
                  <a:solidFill>
                    <a:srgbClr val="000000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Training </a:t>
              </a:r>
            </a:p>
            <a:p>
              <a:pPr algn="ctr">
                <a:lnSpc>
                  <a:spcPts val="3097"/>
                </a:lnSpc>
              </a:pPr>
              <a:r>
                <a:rPr lang="en-US" sz="2921" b="1">
                  <a:solidFill>
                    <a:srgbClr val="000000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Data 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88725" y="8431787"/>
              <a:ext cx="1244843" cy="108312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84"/>
                </a:lnSpc>
              </a:pPr>
              <a:r>
                <a:rPr lang="en-US" sz="2921" b="1">
                  <a:solidFill>
                    <a:srgbClr val="000000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Test </a:t>
              </a:r>
            </a:p>
            <a:p>
              <a:pPr algn="ctr">
                <a:lnSpc>
                  <a:spcPts val="3184"/>
                </a:lnSpc>
              </a:pPr>
              <a:r>
                <a:rPr lang="en-US" sz="2921" b="1">
                  <a:solidFill>
                    <a:srgbClr val="000000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Data 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405159" y="4427680"/>
              <a:ext cx="1223275" cy="76628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5309"/>
                </a:lnSpc>
                <a:spcBef>
                  <a:spcPct val="0"/>
                </a:spcBef>
              </a:pPr>
              <a:r>
                <a:rPr lang="en-US" sz="2901" b="1">
                  <a:solidFill>
                    <a:srgbClr val="0097B2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80%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810318" y="9333933"/>
              <a:ext cx="1223275" cy="76628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5309"/>
                </a:lnSpc>
                <a:spcBef>
                  <a:spcPct val="0"/>
                </a:spcBef>
              </a:pPr>
              <a:r>
                <a:rPr lang="en-US" sz="2901" b="1">
                  <a:solidFill>
                    <a:srgbClr val="0097B2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20%</a:t>
              </a:r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-1204287" y="363542"/>
            <a:ext cx="21461916" cy="13684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1200"/>
              </a:lnSpc>
            </a:pPr>
            <a:r>
              <a:rPr lang="en-US" sz="8000" b="1">
                <a:solidFill>
                  <a:srgbClr val="0097B2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Dividing training and test data 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384542" y="1681887"/>
            <a:ext cx="14844539" cy="6923225"/>
            <a:chOff x="0" y="0"/>
            <a:chExt cx="19792719" cy="9230967"/>
          </a:xfrm>
        </p:grpSpPr>
        <p:sp>
          <p:nvSpPr>
            <p:cNvPr id="3" name="Freeform 3"/>
            <p:cNvSpPr/>
            <p:nvPr/>
          </p:nvSpPr>
          <p:spPr>
            <a:xfrm>
              <a:off x="2041024" y="0"/>
              <a:ext cx="17751695" cy="9230967"/>
            </a:xfrm>
            <a:custGeom>
              <a:avLst/>
              <a:gdLst/>
              <a:ahLst/>
              <a:cxnLst/>
              <a:rect l="l" t="t" r="r" b="b"/>
              <a:pathLst>
                <a:path w="17751695" h="9230967">
                  <a:moveTo>
                    <a:pt x="0" y="0"/>
                  </a:moveTo>
                  <a:lnTo>
                    <a:pt x="17751695" y="0"/>
                  </a:lnTo>
                  <a:lnTo>
                    <a:pt x="17751695" y="9230967"/>
                  </a:lnTo>
                  <a:lnTo>
                    <a:pt x="0" y="923096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608" r="-608"/>
              </a:stretch>
            </a:blipFill>
          </p:spPr>
        </p:sp>
        <p:grpSp>
          <p:nvGrpSpPr>
            <p:cNvPr id="4" name="Group 4"/>
            <p:cNvGrpSpPr/>
            <p:nvPr/>
          </p:nvGrpSpPr>
          <p:grpSpPr>
            <a:xfrm>
              <a:off x="2041024" y="971468"/>
              <a:ext cx="17567217" cy="6375042"/>
              <a:chOff x="0" y="0"/>
              <a:chExt cx="3889799" cy="1411586"/>
            </a:xfrm>
          </p:grpSpPr>
          <p:sp>
            <p:nvSpPr>
              <p:cNvPr id="5" name="Freeform 5"/>
              <p:cNvSpPr/>
              <p:nvPr/>
            </p:nvSpPr>
            <p:spPr>
              <a:xfrm>
                <a:off x="0" y="0"/>
                <a:ext cx="3889799" cy="1411586"/>
              </a:xfrm>
              <a:custGeom>
                <a:avLst/>
                <a:gdLst/>
                <a:ahLst/>
                <a:cxnLst/>
                <a:rect l="l" t="t" r="r" b="b"/>
                <a:pathLst>
                  <a:path w="3889799" h="1411586">
                    <a:moveTo>
                      <a:pt x="0" y="0"/>
                    </a:moveTo>
                    <a:lnTo>
                      <a:pt x="3889799" y="0"/>
                    </a:lnTo>
                    <a:lnTo>
                      <a:pt x="3889799" y="1411586"/>
                    </a:lnTo>
                    <a:lnTo>
                      <a:pt x="0" y="1411586"/>
                    </a:ln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38100" cap="sq">
                <a:solidFill>
                  <a:srgbClr val="00B052"/>
                </a:solidFill>
                <a:prstDash val="solid"/>
                <a:miter/>
              </a:ln>
            </p:spPr>
          </p:sp>
          <p:sp>
            <p:nvSpPr>
              <p:cNvPr id="6" name="TextBox 6"/>
              <p:cNvSpPr txBox="1"/>
              <p:nvPr/>
            </p:nvSpPr>
            <p:spPr>
              <a:xfrm>
                <a:off x="0" y="-28575"/>
                <a:ext cx="3889799" cy="1440161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60"/>
                  </a:lnSpc>
                </a:pPr>
                <a:endParaRPr/>
              </a:p>
            </p:txBody>
          </p:sp>
        </p:grpSp>
        <p:grpSp>
          <p:nvGrpSpPr>
            <p:cNvPr id="7" name="Group 7"/>
            <p:cNvGrpSpPr/>
            <p:nvPr/>
          </p:nvGrpSpPr>
          <p:grpSpPr>
            <a:xfrm>
              <a:off x="2041024" y="7487961"/>
              <a:ext cx="17567217" cy="1743006"/>
              <a:chOff x="0" y="0"/>
              <a:chExt cx="3889799" cy="385943"/>
            </a:xfrm>
          </p:grpSpPr>
          <p:sp>
            <p:nvSpPr>
              <p:cNvPr id="8" name="Freeform 8"/>
              <p:cNvSpPr/>
              <p:nvPr/>
            </p:nvSpPr>
            <p:spPr>
              <a:xfrm>
                <a:off x="0" y="0"/>
                <a:ext cx="3889799" cy="385943"/>
              </a:xfrm>
              <a:custGeom>
                <a:avLst/>
                <a:gdLst/>
                <a:ahLst/>
                <a:cxnLst/>
                <a:rect l="l" t="t" r="r" b="b"/>
                <a:pathLst>
                  <a:path w="3889799" h="385943">
                    <a:moveTo>
                      <a:pt x="0" y="0"/>
                    </a:moveTo>
                    <a:lnTo>
                      <a:pt x="3889799" y="0"/>
                    </a:lnTo>
                    <a:lnTo>
                      <a:pt x="3889799" y="385943"/>
                    </a:lnTo>
                    <a:lnTo>
                      <a:pt x="0" y="385943"/>
                    </a:ln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38100" cap="sq">
                <a:solidFill>
                  <a:srgbClr val="FF6D4D"/>
                </a:solidFill>
                <a:prstDash val="solid"/>
                <a:miter/>
              </a:ln>
            </p:spPr>
          </p:sp>
          <p:sp>
            <p:nvSpPr>
              <p:cNvPr id="9" name="TextBox 9"/>
              <p:cNvSpPr txBox="1"/>
              <p:nvPr/>
            </p:nvSpPr>
            <p:spPr>
              <a:xfrm>
                <a:off x="0" y="-28575"/>
                <a:ext cx="3889799" cy="414518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60"/>
                  </a:lnSpc>
                </a:pPr>
                <a:endParaRPr/>
              </a:p>
            </p:txBody>
          </p:sp>
        </p:grpSp>
        <p:sp>
          <p:nvSpPr>
            <p:cNvPr id="10" name="TextBox 10"/>
            <p:cNvSpPr txBox="1"/>
            <p:nvPr/>
          </p:nvSpPr>
          <p:spPr>
            <a:xfrm>
              <a:off x="0" y="3149113"/>
              <a:ext cx="1814158" cy="96224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62"/>
                </a:lnSpc>
              </a:pPr>
              <a:r>
                <a:rPr lang="en-US" sz="2606" b="1">
                  <a:solidFill>
                    <a:srgbClr val="000000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Training </a:t>
              </a:r>
            </a:p>
            <a:p>
              <a:pPr algn="ctr">
                <a:lnSpc>
                  <a:spcPts val="2762"/>
                </a:lnSpc>
              </a:pPr>
              <a:r>
                <a:rPr lang="en-US" sz="2606" b="1">
                  <a:solidFill>
                    <a:srgbClr val="000000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Data 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03617" y="7507011"/>
              <a:ext cx="1110517" cy="98118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841"/>
                </a:lnSpc>
              </a:pPr>
              <a:r>
                <a:rPr lang="en-US" sz="2606" b="1">
                  <a:solidFill>
                    <a:srgbClr val="000000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Test </a:t>
              </a:r>
            </a:p>
            <a:p>
              <a:pPr algn="ctr">
                <a:lnSpc>
                  <a:spcPts val="2841"/>
                </a:lnSpc>
              </a:pPr>
              <a:r>
                <a:rPr lang="en-US" sz="2606" b="1">
                  <a:solidFill>
                    <a:srgbClr val="000000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Data 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361440" y="3949430"/>
              <a:ext cx="1091277" cy="68407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4736"/>
                </a:lnSpc>
                <a:spcBef>
                  <a:spcPct val="0"/>
                </a:spcBef>
              </a:pPr>
              <a:r>
                <a:rPr lang="en-US" sz="2588" b="1">
                  <a:solidFill>
                    <a:srgbClr val="0097B2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80%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722881" y="8326271"/>
              <a:ext cx="1091277" cy="68407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4736"/>
                </a:lnSpc>
                <a:spcBef>
                  <a:spcPct val="0"/>
                </a:spcBef>
              </a:pPr>
              <a:r>
                <a:rPr lang="en-US" sz="2588" b="1">
                  <a:solidFill>
                    <a:srgbClr val="0097B2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20%</a:t>
              </a:r>
            </a:p>
          </p:txBody>
        </p:sp>
        <p:grpSp>
          <p:nvGrpSpPr>
            <p:cNvPr id="14" name="Group 14"/>
            <p:cNvGrpSpPr/>
            <p:nvPr/>
          </p:nvGrpSpPr>
          <p:grpSpPr>
            <a:xfrm>
              <a:off x="2186470" y="7621835"/>
              <a:ext cx="16121059" cy="1448484"/>
              <a:chOff x="0" y="0"/>
              <a:chExt cx="3569585" cy="320729"/>
            </a:xfrm>
          </p:grpSpPr>
          <p:sp>
            <p:nvSpPr>
              <p:cNvPr id="15" name="Freeform 15"/>
              <p:cNvSpPr/>
              <p:nvPr/>
            </p:nvSpPr>
            <p:spPr>
              <a:xfrm>
                <a:off x="0" y="0"/>
                <a:ext cx="3569585" cy="320729"/>
              </a:xfrm>
              <a:custGeom>
                <a:avLst/>
                <a:gdLst/>
                <a:ahLst/>
                <a:cxnLst/>
                <a:rect l="l" t="t" r="r" b="b"/>
                <a:pathLst>
                  <a:path w="3569585" h="320729">
                    <a:moveTo>
                      <a:pt x="0" y="0"/>
                    </a:moveTo>
                    <a:lnTo>
                      <a:pt x="3569585" y="0"/>
                    </a:lnTo>
                    <a:lnTo>
                      <a:pt x="3569585" y="320729"/>
                    </a:lnTo>
                    <a:lnTo>
                      <a:pt x="0" y="320729"/>
                    </a:ln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38100" cap="sq">
                <a:solidFill>
                  <a:srgbClr val="1800AD"/>
                </a:solidFill>
                <a:prstDash val="dash"/>
                <a:miter/>
              </a:ln>
            </p:spPr>
          </p:sp>
          <p:sp>
            <p:nvSpPr>
              <p:cNvPr id="16" name="TextBox 16"/>
              <p:cNvSpPr txBox="1"/>
              <p:nvPr/>
            </p:nvSpPr>
            <p:spPr>
              <a:xfrm>
                <a:off x="0" y="-28575"/>
                <a:ext cx="3569585" cy="349304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60"/>
                  </a:lnSpc>
                </a:pPr>
                <a:endParaRPr/>
              </a:p>
            </p:txBody>
          </p:sp>
        </p:grpSp>
        <p:grpSp>
          <p:nvGrpSpPr>
            <p:cNvPr id="17" name="Group 17"/>
            <p:cNvGrpSpPr/>
            <p:nvPr/>
          </p:nvGrpSpPr>
          <p:grpSpPr>
            <a:xfrm>
              <a:off x="2186470" y="1109415"/>
              <a:ext cx="16121059" cy="6107294"/>
              <a:chOff x="0" y="0"/>
              <a:chExt cx="3569585" cy="1352300"/>
            </a:xfrm>
          </p:grpSpPr>
          <p:sp>
            <p:nvSpPr>
              <p:cNvPr id="18" name="Freeform 18"/>
              <p:cNvSpPr/>
              <p:nvPr/>
            </p:nvSpPr>
            <p:spPr>
              <a:xfrm>
                <a:off x="0" y="0"/>
                <a:ext cx="3569585" cy="1352300"/>
              </a:xfrm>
              <a:custGeom>
                <a:avLst/>
                <a:gdLst/>
                <a:ahLst/>
                <a:cxnLst/>
                <a:rect l="l" t="t" r="r" b="b"/>
                <a:pathLst>
                  <a:path w="3569585" h="1352300">
                    <a:moveTo>
                      <a:pt x="0" y="0"/>
                    </a:moveTo>
                    <a:lnTo>
                      <a:pt x="3569585" y="0"/>
                    </a:lnTo>
                    <a:lnTo>
                      <a:pt x="3569585" y="1352300"/>
                    </a:lnTo>
                    <a:lnTo>
                      <a:pt x="0" y="1352300"/>
                    </a:ln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38100" cap="sq">
                <a:solidFill>
                  <a:srgbClr val="1800AD"/>
                </a:solidFill>
                <a:prstDash val="dash"/>
                <a:miter/>
              </a:ln>
            </p:spPr>
          </p:sp>
          <p:sp>
            <p:nvSpPr>
              <p:cNvPr id="19" name="TextBox 19"/>
              <p:cNvSpPr txBox="1"/>
              <p:nvPr/>
            </p:nvSpPr>
            <p:spPr>
              <a:xfrm>
                <a:off x="0" y="-28575"/>
                <a:ext cx="3569585" cy="1380875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60"/>
                  </a:lnSpc>
                </a:pPr>
                <a:endParaRPr/>
              </a:p>
            </p:txBody>
          </p:sp>
        </p:grpSp>
        <p:grpSp>
          <p:nvGrpSpPr>
            <p:cNvPr id="20" name="Group 20"/>
            <p:cNvGrpSpPr/>
            <p:nvPr/>
          </p:nvGrpSpPr>
          <p:grpSpPr>
            <a:xfrm>
              <a:off x="18835262" y="1109415"/>
              <a:ext cx="610993" cy="6107294"/>
              <a:chOff x="0" y="0"/>
              <a:chExt cx="135288" cy="1352300"/>
            </a:xfrm>
          </p:grpSpPr>
          <p:sp>
            <p:nvSpPr>
              <p:cNvPr id="21" name="Freeform 21"/>
              <p:cNvSpPr/>
              <p:nvPr/>
            </p:nvSpPr>
            <p:spPr>
              <a:xfrm>
                <a:off x="0" y="0"/>
                <a:ext cx="135288" cy="1352300"/>
              </a:xfrm>
              <a:custGeom>
                <a:avLst/>
                <a:gdLst/>
                <a:ahLst/>
                <a:cxnLst/>
                <a:rect l="l" t="t" r="r" b="b"/>
                <a:pathLst>
                  <a:path w="135288" h="1352300">
                    <a:moveTo>
                      <a:pt x="0" y="0"/>
                    </a:moveTo>
                    <a:lnTo>
                      <a:pt x="135288" y="0"/>
                    </a:lnTo>
                    <a:lnTo>
                      <a:pt x="135288" y="1352300"/>
                    </a:lnTo>
                    <a:lnTo>
                      <a:pt x="0" y="1352300"/>
                    </a:ln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38100" cap="sq">
                <a:solidFill>
                  <a:srgbClr val="AF4C0F"/>
                </a:solidFill>
                <a:prstDash val="dash"/>
                <a:miter/>
              </a:ln>
            </p:spPr>
          </p:sp>
          <p:sp>
            <p:nvSpPr>
              <p:cNvPr id="22" name="TextBox 22"/>
              <p:cNvSpPr txBox="1"/>
              <p:nvPr/>
            </p:nvSpPr>
            <p:spPr>
              <a:xfrm>
                <a:off x="0" y="-28575"/>
                <a:ext cx="135288" cy="1380875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60"/>
                  </a:lnSpc>
                </a:pPr>
                <a:endParaRPr/>
              </a:p>
            </p:txBody>
          </p:sp>
        </p:grpSp>
        <p:grpSp>
          <p:nvGrpSpPr>
            <p:cNvPr id="23" name="Group 23"/>
            <p:cNvGrpSpPr/>
            <p:nvPr/>
          </p:nvGrpSpPr>
          <p:grpSpPr>
            <a:xfrm>
              <a:off x="18835262" y="7621835"/>
              <a:ext cx="610993" cy="1448484"/>
              <a:chOff x="0" y="0"/>
              <a:chExt cx="135288" cy="320729"/>
            </a:xfrm>
          </p:grpSpPr>
          <p:sp>
            <p:nvSpPr>
              <p:cNvPr id="24" name="Freeform 24"/>
              <p:cNvSpPr/>
              <p:nvPr/>
            </p:nvSpPr>
            <p:spPr>
              <a:xfrm>
                <a:off x="0" y="0"/>
                <a:ext cx="135288" cy="320729"/>
              </a:xfrm>
              <a:custGeom>
                <a:avLst/>
                <a:gdLst/>
                <a:ahLst/>
                <a:cxnLst/>
                <a:rect l="l" t="t" r="r" b="b"/>
                <a:pathLst>
                  <a:path w="135288" h="320729">
                    <a:moveTo>
                      <a:pt x="0" y="0"/>
                    </a:moveTo>
                    <a:lnTo>
                      <a:pt x="135288" y="0"/>
                    </a:lnTo>
                    <a:lnTo>
                      <a:pt x="135288" y="320729"/>
                    </a:lnTo>
                    <a:lnTo>
                      <a:pt x="0" y="320729"/>
                    </a:ln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38100" cap="sq">
                <a:solidFill>
                  <a:srgbClr val="AF4C0F"/>
                </a:solidFill>
                <a:prstDash val="dash"/>
                <a:miter/>
              </a:ln>
            </p:spPr>
          </p:sp>
          <p:sp>
            <p:nvSpPr>
              <p:cNvPr id="25" name="TextBox 25"/>
              <p:cNvSpPr txBox="1"/>
              <p:nvPr/>
            </p:nvSpPr>
            <p:spPr>
              <a:xfrm>
                <a:off x="0" y="-28575"/>
                <a:ext cx="135288" cy="349304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60"/>
                  </a:lnSpc>
                </a:pPr>
                <a:endParaRPr/>
              </a:p>
            </p:txBody>
          </p:sp>
        </p:grpSp>
      </p:grpSp>
      <p:sp>
        <p:nvSpPr>
          <p:cNvPr id="26" name="TextBox 26"/>
          <p:cNvSpPr txBox="1"/>
          <p:nvPr/>
        </p:nvSpPr>
        <p:spPr>
          <a:xfrm>
            <a:off x="2978445" y="658768"/>
            <a:ext cx="1253998" cy="57793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031"/>
              </a:lnSpc>
              <a:spcBef>
                <a:spcPct val="0"/>
              </a:spcBef>
            </a:pPr>
            <a:r>
              <a:rPr lang="en-US" sz="2749" b="1" dirty="0" err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X_train</a:t>
            </a:r>
            <a:endParaRPr lang="en-US" sz="2749" b="1" dirty="0">
              <a:solidFill>
                <a:srgbClr val="000000"/>
              </a:solidFill>
              <a:latin typeface="Canva Sans Bold"/>
              <a:ea typeface="Canva Sans Bold"/>
              <a:cs typeface="Canva Sans Bold"/>
              <a:sym typeface="Canva Sans Bold"/>
            </a:endParaRPr>
          </a:p>
        </p:txBody>
      </p:sp>
      <p:sp>
        <p:nvSpPr>
          <p:cNvPr id="27" name="TextBox 27"/>
          <p:cNvSpPr txBox="1"/>
          <p:nvPr/>
        </p:nvSpPr>
        <p:spPr>
          <a:xfrm>
            <a:off x="3120421" y="9096375"/>
            <a:ext cx="1112022" cy="57793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031"/>
              </a:lnSpc>
              <a:spcBef>
                <a:spcPct val="0"/>
              </a:spcBef>
            </a:pPr>
            <a:r>
              <a:rPr lang="en-US" sz="2749" b="1" dirty="0" err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X_test</a:t>
            </a:r>
            <a:endParaRPr lang="en-US" sz="2749" b="1" dirty="0">
              <a:solidFill>
                <a:srgbClr val="000000"/>
              </a:solidFill>
              <a:latin typeface="Canva Sans Bold"/>
              <a:ea typeface="Canva Sans Bold"/>
              <a:cs typeface="Canva Sans Bold"/>
              <a:sym typeface="Canva Sans Bold"/>
            </a:endParaRPr>
          </a:p>
        </p:txBody>
      </p:sp>
      <p:sp>
        <p:nvSpPr>
          <p:cNvPr id="28" name="AutoShape 28"/>
          <p:cNvSpPr/>
          <p:nvPr/>
        </p:nvSpPr>
        <p:spPr>
          <a:xfrm>
            <a:off x="3533456" y="1250177"/>
            <a:ext cx="1253999" cy="1253999"/>
          </a:xfrm>
          <a:prstGeom prst="line">
            <a:avLst/>
          </a:prstGeom>
          <a:ln w="38100" cap="flat">
            <a:solidFill>
              <a:srgbClr val="FFBD59"/>
            </a:solidFill>
            <a:prstDash val="solid"/>
            <a:headEnd type="none" w="sm" len="sm"/>
            <a:tailEnd type="triangle" w="lg" len="med"/>
          </a:ln>
        </p:spPr>
      </p:sp>
      <p:sp>
        <p:nvSpPr>
          <p:cNvPr id="29" name="AutoShape 29"/>
          <p:cNvSpPr/>
          <p:nvPr/>
        </p:nvSpPr>
        <p:spPr>
          <a:xfrm flipV="1">
            <a:off x="3653909" y="8409825"/>
            <a:ext cx="1299019" cy="861945"/>
          </a:xfrm>
          <a:prstGeom prst="line">
            <a:avLst/>
          </a:prstGeom>
          <a:ln w="38100" cap="flat">
            <a:solidFill>
              <a:srgbClr val="FFBD59"/>
            </a:solidFill>
            <a:prstDash val="solid"/>
            <a:headEnd type="none" w="sm" len="sm"/>
            <a:tailEnd type="triangle" w="lg" len="med"/>
          </a:ln>
        </p:spPr>
      </p:sp>
      <p:sp>
        <p:nvSpPr>
          <p:cNvPr id="30" name="TextBox 30"/>
          <p:cNvSpPr txBox="1"/>
          <p:nvPr/>
        </p:nvSpPr>
        <p:spPr>
          <a:xfrm>
            <a:off x="14637714" y="658768"/>
            <a:ext cx="1253998" cy="57793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031"/>
              </a:lnSpc>
              <a:spcBef>
                <a:spcPct val="0"/>
              </a:spcBef>
            </a:pPr>
            <a:r>
              <a:rPr lang="en-US" sz="2749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y_train</a:t>
            </a:r>
          </a:p>
        </p:txBody>
      </p:sp>
      <p:sp>
        <p:nvSpPr>
          <p:cNvPr id="31" name="AutoShape 31"/>
          <p:cNvSpPr/>
          <p:nvPr/>
        </p:nvSpPr>
        <p:spPr>
          <a:xfrm>
            <a:off x="14890111" y="1244305"/>
            <a:ext cx="623718" cy="1434079"/>
          </a:xfrm>
          <a:prstGeom prst="line">
            <a:avLst/>
          </a:prstGeom>
          <a:ln w="38100" cap="flat">
            <a:solidFill>
              <a:srgbClr val="FFBD59"/>
            </a:solidFill>
            <a:prstDash val="solid"/>
            <a:headEnd type="none" w="sm" len="sm"/>
            <a:tailEnd type="triangle" w="lg" len="med"/>
          </a:ln>
        </p:spPr>
      </p:sp>
      <p:sp>
        <p:nvSpPr>
          <p:cNvPr id="32" name="TextBox 32"/>
          <p:cNvSpPr txBox="1"/>
          <p:nvPr/>
        </p:nvSpPr>
        <p:spPr>
          <a:xfrm>
            <a:off x="14708749" y="9109845"/>
            <a:ext cx="1040034" cy="57793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031"/>
              </a:lnSpc>
              <a:spcBef>
                <a:spcPct val="0"/>
              </a:spcBef>
            </a:pPr>
            <a:r>
              <a:rPr lang="en-US" sz="2749" b="1" dirty="0" err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y_test</a:t>
            </a:r>
            <a:endParaRPr lang="en-US" sz="2749" b="1" dirty="0">
              <a:solidFill>
                <a:srgbClr val="000000"/>
              </a:solidFill>
              <a:latin typeface="Canva Sans Bold"/>
              <a:ea typeface="Canva Sans Bold"/>
              <a:cs typeface="Canva Sans Bold"/>
              <a:sym typeface="Canva Sans Bold"/>
            </a:endParaRPr>
          </a:p>
        </p:txBody>
      </p:sp>
      <p:sp>
        <p:nvSpPr>
          <p:cNvPr id="33" name="AutoShape 33"/>
          <p:cNvSpPr/>
          <p:nvPr/>
        </p:nvSpPr>
        <p:spPr>
          <a:xfrm flipV="1">
            <a:off x="15201970" y="8409825"/>
            <a:ext cx="311859" cy="861945"/>
          </a:xfrm>
          <a:prstGeom prst="line">
            <a:avLst/>
          </a:prstGeom>
          <a:ln w="38100" cap="flat">
            <a:solidFill>
              <a:srgbClr val="FFBD59"/>
            </a:solidFill>
            <a:prstDash val="solid"/>
            <a:headEnd type="none" w="sm" len="sm"/>
            <a:tailEnd type="triangle" w="lg" len="med"/>
          </a:ln>
        </p:spPr>
      </p:sp>
      <p:sp>
        <p:nvSpPr>
          <p:cNvPr id="34" name="TextBox 34"/>
          <p:cNvSpPr txBox="1"/>
          <p:nvPr/>
        </p:nvSpPr>
        <p:spPr>
          <a:xfrm>
            <a:off x="2073284" y="259187"/>
            <a:ext cx="3134308" cy="5615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832"/>
              </a:lnSpc>
              <a:spcBef>
                <a:spcPct val="0"/>
              </a:spcBef>
            </a:pPr>
            <a:r>
              <a:rPr lang="en-US" sz="2640" b="1">
                <a:solidFill>
                  <a:srgbClr val="0097B2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Input training data 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2389814" y="9512388"/>
            <a:ext cx="2501248" cy="5615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832"/>
              </a:lnSpc>
              <a:spcBef>
                <a:spcPct val="0"/>
              </a:spcBef>
            </a:pPr>
            <a:r>
              <a:rPr lang="en-US" sz="2640" b="1" dirty="0">
                <a:solidFill>
                  <a:srgbClr val="0097B2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Input test data 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13806938" y="9512388"/>
            <a:ext cx="2790064" cy="5615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832"/>
              </a:lnSpc>
              <a:spcBef>
                <a:spcPct val="0"/>
              </a:spcBef>
            </a:pPr>
            <a:r>
              <a:rPr lang="en-US" sz="2640" b="1">
                <a:solidFill>
                  <a:srgbClr val="0097B2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Output test data 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13490408" y="275150"/>
            <a:ext cx="3423124" cy="5615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832"/>
              </a:lnSpc>
              <a:spcBef>
                <a:spcPct val="0"/>
              </a:spcBef>
            </a:pPr>
            <a:r>
              <a:rPr lang="en-US" sz="2640" b="1">
                <a:solidFill>
                  <a:srgbClr val="0097B2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Output training data 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-1586958" y="652830"/>
            <a:ext cx="21461916" cy="13684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1200"/>
              </a:lnSpc>
            </a:pPr>
            <a:r>
              <a:rPr lang="en-US" sz="8000" b="1">
                <a:solidFill>
                  <a:srgbClr val="0097B2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Standardization 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1770712" y="2116497"/>
            <a:ext cx="15101888" cy="24542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900"/>
              </a:lnSpc>
            </a:pPr>
            <a:r>
              <a:rPr lang="en-US" sz="3500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Standardization is a technique that is applied to input features to move our data points towards center so that our model can be trained with ease and improves the accuracy of our model.</a:t>
            </a:r>
          </a:p>
          <a:p>
            <a:pPr algn="l">
              <a:lnSpc>
                <a:spcPts val="4900"/>
              </a:lnSpc>
              <a:spcBef>
                <a:spcPct val="0"/>
              </a:spcBef>
            </a:pPr>
            <a:endParaRPr lang="en-US" sz="3500" b="1">
              <a:solidFill>
                <a:srgbClr val="000000"/>
              </a:solidFill>
              <a:latin typeface="Canva Sans Bold"/>
              <a:ea typeface="Canva Sans Bold"/>
              <a:cs typeface="Canva Sans Bold"/>
              <a:sym typeface="Canva Sans Bold"/>
            </a:endParaRPr>
          </a:p>
        </p:txBody>
      </p:sp>
      <p:grpSp>
        <p:nvGrpSpPr>
          <p:cNvPr id="4" name="Group 4"/>
          <p:cNvGrpSpPr/>
          <p:nvPr/>
        </p:nvGrpSpPr>
        <p:grpSpPr>
          <a:xfrm>
            <a:off x="672718" y="4494572"/>
            <a:ext cx="16383992" cy="5093897"/>
            <a:chOff x="0" y="0"/>
            <a:chExt cx="21845322" cy="6791863"/>
          </a:xfrm>
        </p:grpSpPr>
        <p:sp>
          <p:nvSpPr>
            <p:cNvPr id="5" name="AutoShape 5"/>
            <p:cNvSpPr/>
            <p:nvPr/>
          </p:nvSpPr>
          <p:spPr>
            <a:xfrm>
              <a:off x="0" y="3960037"/>
              <a:ext cx="8656320" cy="0"/>
            </a:xfrm>
            <a:prstGeom prst="line">
              <a:avLst/>
            </a:prstGeom>
            <a:ln w="508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</p:sp>
        <p:sp>
          <p:nvSpPr>
            <p:cNvPr id="6" name="AutoShape 6"/>
            <p:cNvSpPr/>
            <p:nvPr/>
          </p:nvSpPr>
          <p:spPr>
            <a:xfrm>
              <a:off x="13189002" y="3985437"/>
              <a:ext cx="8656320" cy="0"/>
            </a:xfrm>
            <a:prstGeom prst="line">
              <a:avLst/>
            </a:prstGeom>
            <a:ln w="508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</p:sp>
        <p:sp>
          <p:nvSpPr>
            <p:cNvPr id="7" name="AutoShape 7"/>
            <p:cNvSpPr/>
            <p:nvPr/>
          </p:nvSpPr>
          <p:spPr>
            <a:xfrm>
              <a:off x="4328160" y="1136177"/>
              <a:ext cx="0" cy="5612852"/>
            </a:xfrm>
            <a:prstGeom prst="line">
              <a:avLst/>
            </a:prstGeom>
            <a:ln w="508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</p:sp>
        <p:sp>
          <p:nvSpPr>
            <p:cNvPr id="8" name="AutoShape 8"/>
            <p:cNvSpPr/>
            <p:nvPr/>
          </p:nvSpPr>
          <p:spPr>
            <a:xfrm>
              <a:off x="17437116" y="1179010"/>
              <a:ext cx="0" cy="5612852"/>
            </a:xfrm>
            <a:prstGeom prst="line">
              <a:avLst/>
            </a:prstGeom>
            <a:ln w="508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2239665" y="979075"/>
              <a:ext cx="294323" cy="165202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1528"/>
                </a:lnSpc>
                <a:spcBef>
                  <a:spcPct val="0"/>
                </a:spcBef>
              </a:pPr>
              <a:r>
                <a:rPr lang="en-US" sz="6299" b="1">
                  <a:solidFill>
                    <a:srgbClr val="FF3131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.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2755126" y="546763"/>
              <a:ext cx="294323" cy="165202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1528"/>
                </a:lnSpc>
                <a:spcBef>
                  <a:spcPct val="0"/>
                </a:spcBef>
              </a:pPr>
              <a:r>
                <a:rPr lang="en-US" sz="6299" b="1">
                  <a:solidFill>
                    <a:srgbClr val="FF3131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.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2130603" y="1765963"/>
              <a:ext cx="294323" cy="165202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1528"/>
                </a:lnSpc>
                <a:spcBef>
                  <a:spcPct val="0"/>
                </a:spcBef>
              </a:pPr>
              <a:r>
                <a:rPr lang="en-US" sz="6299" b="1">
                  <a:solidFill>
                    <a:srgbClr val="FF3131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.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2755126" y="1562763"/>
              <a:ext cx="294323" cy="165202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1528"/>
                </a:lnSpc>
                <a:spcBef>
                  <a:spcPct val="0"/>
                </a:spcBef>
              </a:pPr>
              <a:r>
                <a:rPr lang="en-US" sz="6299" b="1">
                  <a:solidFill>
                    <a:srgbClr val="FF3131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.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3585865" y="119665"/>
              <a:ext cx="294323" cy="165202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1528"/>
                </a:lnSpc>
                <a:spcBef>
                  <a:spcPct val="0"/>
                </a:spcBef>
              </a:pPr>
              <a:r>
                <a:rPr lang="en-US" sz="6299" b="1">
                  <a:solidFill>
                    <a:srgbClr val="FF3131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.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7133610" y="1765963"/>
              <a:ext cx="294323" cy="165202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1528"/>
                </a:lnSpc>
                <a:spcBef>
                  <a:spcPct val="0"/>
                </a:spcBef>
              </a:pPr>
              <a:r>
                <a:rPr lang="en-US" sz="6299" b="1">
                  <a:solidFill>
                    <a:srgbClr val="FF3131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.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4083387" y="2224186"/>
              <a:ext cx="294323" cy="165202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1528"/>
                </a:lnSpc>
                <a:spcBef>
                  <a:spcPct val="0"/>
                </a:spcBef>
              </a:pPr>
              <a:r>
                <a:rPr lang="en-US" sz="6299" b="1">
                  <a:solidFill>
                    <a:srgbClr val="FF3131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.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5505787" y="1562763"/>
              <a:ext cx="294323" cy="165202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1528"/>
                </a:lnSpc>
                <a:spcBef>
                  <a:spcPct val="0"/>
                </a:spcBef>
              </a:pPr>
              <a:r>
                <a:rPr lang="en-US" sz="6299" b="1">
                  <a:solidFill>
                    <a:srgbClr val="FF3131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.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2852737" y="3883837"/>
              <a:ext cx="294323" cy="165202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1528"/>
                </a:lnSpc>
                <a:spcBef>
                  <a:spcPct val="0"/>
                </a:spcBef>
              </a:pPr>
              <a:r>
                <a:rPr lang="en-US" sz="6299" b="1">
                  <a:solidFill>
                    <a:srgbClr val="FF3131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.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692987" y="2833786"/>
              <a:ext cx="294323" cy="165202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1528"/>
                </a:lnSpc>
                <a:spcBef>
                  <a:spcPct val="0"/>
                </a:spcBef>
              </a:pPr>
              <a:r>
                <a:rPr lang="en-US" sz="6299" b="1">
                  <a:solidFill>
                    <a:srgbClr val="FF3131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.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5617865" y="162499"/>
              <a:ext cx="294323" cy="165202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1528"/>
                </a:lnSpc>
                <a:spcBef>
                  <a:spcPct val="0"/>
                </a:spcBef>
              </a:pPr>
              <a:r>
                <a:rPr lang="en-US" sz="6299" b="1">
                  <a:solidFill>
                    <a:srgbClr val="FF3131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.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5099387" y="3240186"/>
              <a:ext cx="294323" cy="165202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1528"/>
                </a:lnSpc>
                <a:spcBef>
                  <a:spcPct val="0"/>
                </a:spcBef>
              </a:pPr>
              <a:r>
                <a:rPr lang="en-US" sz="6299" b="1">
                  <a:solidFill>
                    <a:srgbClr val="FF3131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.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4398665" y="4384209"/>
              <a:ext cx="294323" cy="165202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1528"/>
                </a:lnSpc>
                <a:spcBef>
                  <a:spcPct val="0"/>
                </a:spcBef>
              </a:pPr>
              <a:r>
                <a:rPr lang="en-US" sz="6299" b="1">
                  <a:solidFill>
                    <a:srgbClr val="FF3131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.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6638310" y="3214275"/>
              <a:ext cx="294323" cy="165202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1528"/>
                </a:lnSpc>
                <a:spcBef>
                  <a:spcPct val="0"/>
                </a:spcBef>
              </a:pPr>
              <a:r>
                <a:rPr lang="en-US" sz="6299" b="1">
                  <a:solidFill>
                    <a:srgbClr val="FF3131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.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1945342" y="3391563"/>
              <a:ext cx="294323" cy="165202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1528"/>
                </a:lnSpc>
                <a:spcBef>
                  <a:spcPct val="0"/>
                </a:spcBef>
              </a:pPr>
              <a:r>
                <a:rPr lang="en-US" sz="6299" b="1">
                  <a:solidFill>
                    <a:srgbClr val="FF3131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.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5912187" y="4052986"/>
              <a:ext cx="294323" cy="165202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1528"/>
                </a:lnSpc>
                <a:spcBef>
                  <a:spcPct val="0"/>
                </a:spcBef>
              </a:pPr>
              <a:r>
                <a:rPr lang="en-US" sz="6299" b="1">
                  <a:solidFill>
                    <a:srgbClr val="FF3131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.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5460226" y="4865786"/>
              <a:ext cx="294323" cy="165202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1528"/>
                </a:lnSpc>
                <a:spcBef>
                  <a:spcPct val="0"/>
                </a:spcBef>
              </a:pPr>
              <a:r>
                <a:rPr lang="en-US" sz="6299" b="1">
                  <a:solidFill>
                    <a:srgbClr val="FF3131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.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7133610" y="4384209"/>
              <a:ext cx="294323" cy="165202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1528"/>
                </a:lnSpc>
                <a:spcBef>
                  <a:spcPct val="0"/>
                </a:spcBef>
              </a:pPr>
              <a:r>
                <a:rPr lang="en-US" sz="6299" b="1">
                  <a:solidFill>
                    <a:srgbClr val="FF3131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.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6521787" y="4662586"/>
              <a:ext cx="294323" cy="165202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1528"/>
                </a:lnSpc>
                <a:spcBef>
                  <a:spcPct val="0"/>
                </a:spcBef>
              </a:pPr>
              <a:r>
                <a:rPr lang="en-US" sz="6299" b="1">
                  <a:solidFill>
                    <a:srgbClr val="FF3131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.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3471565" y="2968925"/>
              <a:ext cx="294323" cy="165202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1528"/>
                </a:lnSpc>
                <a:spcBef>
                  <a:spcPct val="0"/>
                </a:spcBef>
              </a:pPr>
              <a:r>
                <a:rPr lang="en-US" sz="6299" b="1">
                  <a:solidFill>
                    <a:srgbClr val="FF3131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.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16977693" y="3391563"/>
              <a:ext cx="294323" cy="165202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1528"/>
                </a:lnSpc>
                <a:spcBef>
                  <a:spcPct val="0"/>
                </a:spcBef>
              </a:pPr>
              <a:r>
                <a:rPr lang="en-US" sz="6299" b="1">
                  <a:solidFill>
                    <a:srgbClr val="00B052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.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7665716" y="3391563"/>
              <a:ext cx="294323" cy="165202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1528"/>
                </a:lnSpc>
                <a:spcBef>
                  <a:spcPct val="0"/>
                </a:spcBef>
              </a:pPr>
              <a:r>
                <a:rPr lang="en-US" sz="6299" b="1">
                  <a:solidFill>
                    <a:srgbClr val="00B052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.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17896538" y="1614586"/>
              <a:ext cx="294323" cy="165202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1528"/>
                </a:lnSpc>
                <a:spcBef>
                  <a:spcPct val="0"/>
                </a:spcBef>
              </a:pPr>
              <a:r>
                <a:rPr lang="en-US" sz="6299" b="1">
                  <a:solidFill>
                    <a:srgbClr val="00B052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.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6960699" y="3036986"/>
              <a:ext cx="294323" cy="165202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1528"/>
                </a:lnSpc>
                <a:spcBef>
                  <a:spcPct val="0"/>
                </a:spcBef>
              </a:pPr>
              <a:r>
                <a:rPr lang="en-US" sz="6299" b="1">
                  <a:solidFill>
                    <a:srgbClr val="00B052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.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17455130" y="3214275"/>
              <a:ext cx="294323" cy="165202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1528"/>
                </a:lnSpc>
                <a:spcBef>
                  <a:spcPct val="0"/>
                </a:spcBef>
              </a:pPr>
              <a:r>
                <a:rPr lang="en-US" sz="6299" b="1">
                  <a:solidFill>
                    <a:srgbClr val="00B052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.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17640316" y="2859698"/>
              <a:ext cx="294323" cy="165202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1528"/>
                </a:lnSpc>
                <a:spcBef>
                  <a:spcPct val="0"/>
                </a:spcBef>
              </a:pPr>
              <a:r>
                <a:rPr lang="en-US" sz="6299" b="1">
                  <a:solidFill>
                    <a:srgbClr val="00B052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.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17564116" y="2333413"/>
              <a:ext cx="294323" cy="165202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1528"/>
                </a:lnSpc>
                <a:spcBef>
                  <a:spcPct val="0"/>
                </a:spcBef>
              </a:pPr>
              <a:r>
                <a:rPr lang="en-US" sz="6299" b="1">
                  <a:solidFill>
                    <a:srgbClr val="00B052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.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17500616" y="2046337"/>
              <a:ext cx="294323" cy="165202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1528"/>
                </a:lnSpc>
                <a:spcBef>
                  <a:spcPct val="0"/>
                </a:spcBef>
              </a:pPr>
              <a:r>
                <a:rPr lang="en-US" sz="6299" b="1">
                  <a:solidFill>
                    <a:srgbClr val="00B052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.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17084607" y="1969163"/>
              <a:ext cx="294323" cy="165202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1528"/>
                </a:lnSpc>
                <a:spcBef>
                  <a:spcPct val="0"/>
                </a:spcBef>
              </a:pPr>
              <a:r>
                <a:rPr lang="en-US" sz="6299" b="1">
                  <a:solidFill>
                    <a:srgbClr val="00B052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.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17051822" y="2401475"/>
              <a:ext cx="294323" cy="165202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1528"/>
                </a:lnSpc>
                <a:spcBef>
                  <a:spcPct val="0"/>
                </a:spcBef>
              </a:pPr>
              <a:r>
                <a:rPr lang="en-US" sz="6299" b="1">
                  <a:solidFill>
                    <a:srgbClr val="00B052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.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16960699" y="2046337"/>
              <a:ext cx="294323" cy="165202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1528"/>
                </a:lnSpc>
                <a:spcBef>
                  <a:spcPct val="0"/>
                </a:spcBef>
              </a:pPr>
              <a:r>
                <a:rPr lang="en-US" sz="6299" b="1">
                  <a:solidFill>
                    <a:srgbClr val="00B052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.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16566999" y="2478649"/>
              <a:ext cx="294323" cy="165202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1528"/>
                </a:lnSpc>
                <a:spcBef>
                  <a:spcPct val="0"/>
                </a:spcBef>
              </a:pPr>
              <a:r>
                <a:rPr lang="en-US" sz="6299" b="1">
                  <a:solidFill>
                    <a:srgbClr val="00B052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.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16666377" y="2943525"/>
              <a:ext cx="294323" cy="165202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1528"/>
                </a:lnSpc>
                <a:spcBef>
                  <a:spcPct val="0"/>
                </a:spcBef>
              </a:pPr>
              <a:r>
                <a:rPr lang="en-US" sz="6299" b="1">
                  <a:solidFill>
                    <a:srgbClr val="00B052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.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17101000" y="2559713"/>
              <a:ext cx="316030" cy="176481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9"/>
                </a:lnSpc>
                <a:spcBef>
                  <a:spcPct val="0"/>
                </a:spcBef>
              </a:pPr>
              <a:r>
                <a:rPr lang="en-US" sz="6764" b="1">
                  <a:solidFill>
                    <a:srgbClr val="00B052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.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16757499" y="2198275"/>
              <a:ext cx="294323" cy="165202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1528"/>
                </a:lnSpc>
                <a:spcBef>
                  <a:spcPct val="0"/>
                </a:spcBef>
              </a:pPr>
              <a:r>
                <a:rPr lang="en-US" sz="6299" b="1">
                  <a:solidFill>
                    <a:srgbClr val="00B052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.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17736677" y="2198275"/>
              <a:ext cx="294323" cy="165202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1528"/>
                </a:lnSpc>
                <a:spcBef>
                  <a:spcPct val="0"/>
                </a:spcBef>
              </a:pPr>
              <a:r>
                <a:rPr lang="en-US" sz="6299" b="1">
                  <a:solidFill>
                    <a:srgbClr val="00B052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.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17538716" y="3113186"/>
              <a:ext cx="294323" cy="165202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1528"/>
                </a:lnSpc>
                <a:spcBef>
                  <a:spcPct val="0"/>
                </a:spcBef>
              </a:pPr>
              <a:r>
                <a:rPr lang="en-US" sz="6299" b="1">
                  <a:solidFill>
                    <a:srgbClr val="00B052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.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16790285" y="2046337"/>
              <a:ext cx="294323" cy="165202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1528"/>
                </a:lnSpc>
                <a:spcBef>
                  <a:spcPct val="0"/>
                </a:spcBef>
              </a:pPr>
              <a:r>
                <a:rPr lang="en-US" sz="6299" b="1">
                  <a:solidFill>
                    <a:srgbClr val="00B052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.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18074338" y="3113186"/>
              <a:ext cx="294323" cy="165202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1528"/>
                </a:lnSpc>
                <a:spcBef>
                  <a:spcPct val="0"/>
                </a:spcBef>
              </a:pPr>
              <a:r>
                <a:rPr lang="en-US" sz="6299" b="1">
                  <a:solidFill>
                    <a:srgbClr val="00B052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.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18031000" y="2308013"/>
              <a:ext cx="294323" cy="165202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1528"/>
                </a:lnSpc>
                <a:spcBef>
                  <a:spcPct val="0"/>
                </a:spcBef>
              </a:pPr>
              <a:r>
                <a:rPr lang="en-US" sz="6299" b="1">
                  <a:solidFill>
                    <a:srgbClr val="00B052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.</a:t>
              </a:r>
            </a:p>
          </p:txBody>
        </p:sp>
        <p:sp>
          <p:nvSpPr>
            <p:cNvPr id="49" name="AutoShape 49"/>
            <p:cNvSpPr/>
            <p:nvPr/>
          </p:nvSpPr>
          <p:spPr>
            <a:xfrm flipH="1">
              <a:off x="18382453" y="1814522"/>
              <a:ext cx="1368151" cy="1231505"/>
            </a:xfrm>
            <a:prstGeom prst="line">
              <a:avLst/>
            </a:prstGeom>
            <a:ln w="508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</p:sp>
        <p:sp>
          <p:nvSpPr>
            <p:cNvPr id="50" name="AutoShape 50"/>
            <p:cNvSpPr/>
            <p:nvPr/>
          </p:nvSpPr>
          <p:spPr>
            <a:xfrm flipH="1">
              <a:off x="6145080" y="1811585"/>
              <a:ext cx="1368151" cy="1231505"/>
            </a:xfrm>
            <a:prstGeom prst="line">
              <a:avLst/>
            </a:prstGeom>
            <a:ln w="508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</p:sp>
        <p:sp>
          <p:nvSpPr>
            <p:cNvPr id="51" name="TextBox 51"/>
            <p:cNvSpPr txBox="1"/>
            <p:nvPr/>
          </p:nvSpPr>
          <p:spPr>
            <a:xfrm>
              <a:off x="18516616" y="1103228"/>
              <a:ext cx="3088447" cy="66988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4607"/>
                </a:lnSpc>
                <a:spcBef>
                  <a:spcPct val="0"/>
                </a:spcBef>
              </a:pPr>
              <a:r>
                <a:rPr lang="en-US" sz="2517" b="1">
                  <a:solidFill>
                    <a:srgbClr val="000000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Zero-centered 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6638310" y="1112753"/>
              <a:ext cx="2134533" cy="65893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4594"/>
                </a:lnSpc>
                <a:spcBef>
                  <a:spcPct val="0"/>
                </a:spcBef>
              </a:pPr>
              <a:r>
                <a:rPr lang="en-US" sz="2510" b="1">
                  <a:solidFill>
                    <a:srgbClr val="000000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Scattered 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1463993" y="-190500"/>
              <a:ext cx="6163667" cy="82616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5765"/>
                </a:lnSpc>
                <a:spcBef>
                  <a:spcPct val="0"/>
                </a:spcBef>
              </a:pPr>
              <a:r>
                <a:rPr lang="en-US" sz="3150" b="1">
                  <a:solidFill>
                    <a:srgbClr val="FF6D4D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Before Standardization 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14157416" y="-136203"/>
              <a:ext cx="6559400" cy="78181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5449"/>
                </a:lnSpc>
                <a:spcBef>
                  <a:spcPct val="0"/>
                </a:spcBef>
              </a:pPr>
              <a:r>
                <a:rPr lang="en-US" sz="2978" b="1">
                  <a:solidFill>
                    <a:srgbClr val="FF6D4D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After Standardization </a:t>
              </a:r>
            </a:p>
          </p:txBody>
        </p:sp>
      </p:grp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8883907" y="-2038022"/>
            <a:ext cx="9404093" cy="13328151"/>
          </a:xfrm>
          <a:custGeom>
            <a:avLst/>
            <a:gdLst/>
            <a:ahLst/>
            <a:cxnLst/>
            <a:rect l="l" t="t" r="r" b="b"/>
            <a:pathLst>
              <a:path w="9404093" h="13328151">
                <a:moveTo>
                  <a:pt x="0" y="0"/>
                </a:moveTo>
                <a:lnTo>
                  <a:pt x="9404093" y="0"/>
                </a:lnTo>
                <a:lnTo>
                  <a:pt x="9404093" y="13328151"/>
                </a:lnTo>
                <a:lnTo>
                  <a:pt x="0" y="13328151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r="-1866"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-6367576" y="3304750"/>
            <a:ext cx="21461916" cy="29188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1231"/>
              </a:lnSpc>
            </a:pPr>
            <a:r>
              <a:rPr lang="en-US" sz="11699" b="1" spc="-491">
                <a:solidFill>
                  <a:srgbClr val="0097B2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AI &amp; ML</a:t>
            </a:r>
          </a:p>
          <a:p>
            <a:pPr algn="ctr">
              <a:lnSpc>
                <a:spcPts val="11231"/>
              </a:lnSpc>
            </a:pPr>
            <a:r>
              <a:rPr lang="en-US" sz="11699" b="1" spc="-491">
                <a:solidFill>
                  <a:srgbClr val="0097B2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ROADMAP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5267349" y="0"/>
            <a:ext cx="8319640" cy="10287000"/>
          </a:xfrm>
          <a:custGeom>
            <a:avLst/>
            <a:gdLst/>
            <a:ahLst/>
            <a:cxnLst/>
            <a:rect l="l" t="t" r="r" b="b"/>
            <a:pathLst>
              <a:path w="8319640" h="10287000">
                <a:moveTo>
                  <a:pt x="0" y="0"/>
                </a:moveTo>
                <a:lnTo>
                  <a:pt x="8319640" y="0"/>
                </a:lnTo>
                <a:lnTo>
                  <a:pt x="831964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547" b="-547"/>
            </a:stretch>
          </a:blipFill>
        </p:spPr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81233" y="3726046"/>
            <a:ext cx="16925534" cy="2415147"/>
            <a:chOff x="0" y="0"/>
            <a:chExt cx="22567378" cy="3220196"/>
          </a:xfrm>
        </p:grpSpPr>
        <p:sp>
          <p:nvSpPr>
            <p:cNvPr id="3" name="TextBox 3"/>
            <p:cNvSpPr txBox="1"/>
            <p:nvPr/>
          </p:nvSpPr>
          <p:spPr>
            <a:xfrm>
              <a:off x="0" y="-190500"/>
              <a:ext cx="22567378" cy="219151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823"/>
                </a:lnSpc>
              </a:pPr>
              <a:r>
                <a:rPr lang="en-US" sz="9873" b="1">
                  <a:solidFill>
                    <a:srgbClr val="0097B2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Thank You 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3206724" y="1886712"/>
              <a:ext cx="15564010" cy="133348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8400"/>
                </a:lnSpc>
                <a:spcBef>
                  <a:spcPct val="0"/>
                </a:spcBef>
              </a:pPr>
              <a:r>
                <a:rPr lang="en-US" sz="6000" b="1">
                  <a:solidFill>
                    <a:srgbClr val="000000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AI ML is the new Future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772</Words>
  <Application>Microsoft Office PowerPoint</Application>
  <PresentationFormat>Custom</PresentationFormat>
  <Paragraphs>154</Paragraphs>
  <Slides>20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6" baseType="lpstr">
      <vt:lpstr>Bricolage Grotesque</vt:lpstr>
      <vt:lpstr>Arial</vt:lpstr>
      <vt:lpstr>Canva Sans</vt:lpstr>
      <vt:lpstr>Canva Sans Bold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Add a heading</dc:title>
  <cp:lastModifiedBy>Trishansh Sahane</cp:lastModifiedBy>
  <cp:revision>3</cp:revision>
  <dcterms:created xsi:type="dcterms:W3CDTF">2006-08-16T00:00:00Z</dcterms:created>
  <dcterms:modified xsi:type="dcterms:W3CDTF">2026-04-16T08:40:42Z</dcterms:modified>
  <dc:identifier>DAGxegIGkho</dc:identifier>
</cp:coreProperties>
</file>